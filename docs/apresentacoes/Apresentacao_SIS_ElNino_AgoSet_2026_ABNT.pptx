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Open Sans Bold" pitchFamily="2" charset="0"/>
      <p:regular r:id="rId14"/>
      <p:bold r:id="rId15"/>
    </p:embeddedFont>
    <p:embeddedFont>
      <p:font typeface="Open Sans Ultra-Bold" panose="020B0604020202020204" charset="0"/>
      <p:regular r:id="rId16"/>
    </p:embeddedFont>
    <p:embeddedFont>
      <p:font typeface="Uni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5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 Clima-Saúde MT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 Niño 2026 e cenário operacional ago.–set./2026</a:t>
            </a:r>
          </a:p>
          <a:p>
            <a:r>
              <a:t>CIEVS-MT · Ferramenta de vigilância integrada</a:t>
            </a:r>
          </a:p>
          <a:p>
            <a:r>
              <a:t>Apresentação técnica com fontes citadas (ABNT NBR 6023)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 e limites (para não delirar)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Objetivo: apresentar o SIS como ferramenta de apoio à vigilância CIEVS e situar o cenário ago.–set./2026.</a:t>
            </a:r>
          </a:p>
          <a:p>
            <a:pPr>
              <a:defRPr sz="1500">
                <a:latin typeface="Calibri"/>
              </a:defRPr>
            </a:pPr>
            <a:r>
              <a:t>O SIS NÃO substitui a previsão climática oficial do INMET/CPTEC/INPE.</a:t>
            </a:r>
          </a:p>
          <a:p>
            <a:pPr>
              <a:defRPr sz="1500">
                <a:latin typeface="Calibri"/>
              </a:defRPr>
            </a:pPr>
            <a:r>
              <a:t>A predição numérica do SIS cobre ~7 dias (Open-Meteo) — não é forecast mensal. (CIEVS-MT, 2026) (OPEN-METEO, 2026)</a:t>
            </a:r>
          </a:p>
          <a:p>
            <a:pPr>
              <a:defRPr sz="1500">
                <a:latin typeface="Calibri"/>
              </a:defRPr>
            </a:pPr>
            <a:r>
              <a:t>O cenário sazonal (chuva/temperatura no trimestre) vem de boletins oficiais do Painel El Niño. (INMET et al., 2026a)</a:t>
            </a:r>
          </a:p>
          <a:p>
            <a:pPr>
              <a:defRPr sz="1500">
                <a:latin typeface="Calibri"/>
              </a:defRPr>
            </a:pPr>
            <a:r>
              <a:t>Correlações clima–saúde no painel são ecológicas/exploratórias — não causalidade individual. (CIEVS-MT, 2026)</a:t>
            </a:r>
          </a:p>
          <a:p>
            <a:pPr>
              <a:defRPr sz="1500">
                <a:latin typeface="Calibri"/>
              </a:defRPr>
            </a:pPr>
            <a:r>
              <a:t>Todas as afirmações climáticas de médio prazo nesta apresentação citam NOAA/IRI/INMET/INPE.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SIS Clima-Saúde 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Painel Streamlit municipalizado para o CIEVS-MT: clima, SRAG/SIVEP, arboviroses, ar, Cemaden/ANA.</a:t>
            </a:r>
          </a:p>
          <a:p>
            <a:pPr>
              <a:defRPr sz="1500">
                <a:latin typeface="Calibri"/>
              </a:defRPr>
            </a:pPr>
            <a:r>
              <a:t>Classifica nível operacional (Verde→Roxa) por município e gera ranqueamento para priorização.</a:t>
            </a:r>
          </a:p>
          <a:p>
            <a:pPr>
              <a:defRPr sz="1500">
                <a:latin typeface="Calibri"/>
              </a:defRPr>
            </a:pPr>
            <a:r>
              <a:t>Integra fontes: Open-Meteo, DW/SINAN/SIVEP locais, shapefile IBGE, indicadores MS quando disponíveis.</a:t>
            </a:r>
          </a:p>
          <a:p>
            <a:pPr>
              <a:defRPr sz="1500">
                <a:latin typeface="Calibri"/>
              </a:defRPr>
            </a:pPr>
            <a:r>
              <a:t>Entrega: mapas, séries, correlação Spearman, predição 7d e alerta inteligente — com ressalvas.</a:t>
            </a:r>
          </a:p>
          <a:p>
            <a:pPr>
              <a:defRPr sz="1500">
                <a:latin typeface="Calibri"/>
              </a:defRPr>
            </a:pPr>
            <a:r>
              <a:t>Uso pretendido: sala de situação, plantão e comunicação técnica — não prognóstico agroclimático.</a:t>
            </a:r>
          </a:p>
          <a:p>
            <a:pPr>
              <a:defRPr sz="1500">
                <a:latin typeface="Calibri"/>
              </a:defRPr>
            </a:pPr>
            <a:r>
              <a:t>Base consultada: postgresql · 142 municípios · extração 27/07/2026. (CIEVS-MT,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Niño 2026 — o que dizem as fontes oficiais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NOAA: El Niño Advisory (discussão de 9 jul. 2026); fenômeno presente e previsto a fortalecer. (NOAA, 2026)</a:t>
            </a:r>
          </a:p>
          <a:p>
            <a:pPr>
              <a:defRPr sz="1500">
                <a:latin typeface="Calibri"/>
              </a:defRPr>
            </a:pPr>
            <a:r>
              <a:t>IRI (jul./2026): intensificação; Niño 3.4 semanal ~+2,1 °C (semana centrada em 15 jul. 2026); alta probabilidade de persistência até início de 2027. (IRI, 2026)</a:t>
            </a:r>
          </a:p>
          <a:p>
            <a:pPr>
              <a:defRPr sz="1500">
                <a:latin typeface="Calibri"/>
              </a:defRPr>
            </a:pPr>
            <a:r>
              <a:t>Painel El Niño BR (INMET/INPE/ANA/Cemaden/SGB/SEDEC): El Niño confirmado em jun./2026; &gt;90% de chance de permanência até início de 2027; risco de evento muito forte (TSM &gt;2 °C) na primavera–verão 2026. (INMET et al., 2026a) (INMET, 2026)</a:t>
            </a:r>
          </a:p>
          <a:p>
            <a:pPr>
              <a:defRPr sz="1500">
                <a:latin typeface="Calibri"/>
              </a:defRPr>
            </a:pPr>
            <a:r>
              <a:t>Conclusão cautelosa: o forçante oceânico favorece calor e anomalias de chuva no Brasil — a resposta local no MT deve ser monitorada, não pressuposta município a município.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Prognóstico sazonal JAS/2026 (INMET–CPTEC–FUNCEME)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Trimestre jul.–ago.–set./2026: maior probabilidade de chuva abaixo da média no centro-norte do Brasil. (INMET et al., 2026a)</a:t>
            </a:r>
          </a:p>
          <a:p>
            <a:pPr>
              <a:defRPr sz="1500">
                <a:latin typeface="Calibri"/>
              </a:defRPr>
            </a:pPr>
            <a:r>
              <a:t>Temperatura: maior probabilidade de valores acima da normal na maior parte do país — maior potencial de ondas de calor na faixa central. (INMET et al., 2026a)</a:t>
            </a:r>
          </a:p>
          <a:p>
            <a:pPr>
              <a:defRPr sz="1500">
                <a:latin typeface="Calibri"/>
              </a:defRPr>
            </a:pPr>
            <a:r>
              <a:t>Combinação calor + chuva abaixo da média no Centro-Oeste/Norte/Nordeste aumenta potencial de queimadas. (INMET et al., 2026a) (INPE, 2026)</a:t>
            </a:r>
          </a:p>
          <a:p>
            <a:pPr>
              <a:defRPr sz="1500">
                <a:latin typeface="Calibri"/>
              </a:defRPr>
            </a:pPr>
            <a:r>
              <a:t>Implicação para MT (leitura operacional): reforçar vigilância de estiagem, calor, qualidade do ar e vetores — sem afirmar magnitude exata por município (isso é papel do monitoramento contínuo).</a:t>
            </a:r>
          </a:p>
          <a:p>
            <a:pPr>
              <a:defRPr sz="1500">
                <a:latin typeface="Calibri"/>
              </a:defRPr>
            </a:pPr>
            <a:r>
              <a:t>Nota técnica conjunta prévia já apontava alta probabilidade de El Niño no 2º semestre/2026. (INPE; INMET; FUNCEME; CENSIPAM,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Horizonte curto (SIS) — temperatura e umidade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400"/>
            </a:pPr>
            <a:r>
              <a:t>Dados de curto prazo no SIS (Open-Meteo) vão, nesta extração, até ~02/08/2026 — não cobrem agosto inteiro. (CIEVS-MT, 2026) (OPEN-METEO, 2026)</a:t>
            </a:r>
          </a:p>
          <a:p>
            <a:pPr>
              <a:defRPr sz="1400"/>
            </a:pPr>
            <a:r>
              <a:t>Leitura da média estadual no horizonte disponível:</a:t>
            </a:r>
          </a:p>
          <a:p>
            <a:pPr>
              <a:defRPr sz="1400"/>
            </a:pPr>
            <a:r>
              <a:t>2026-07-27: Tmax ~33.6 °C, UR 56%, chuva 0.05 mm</a:t>
            </a:r>
          </a:p>
          <a:p>
            <a:pPr>
              <a:defRPr sz="1400"/>
            </a:pPr>
            <a:r>
              <a:t>2026-07-28: Tmax ~33.9 °C, UR 55%, chuva 0.15 mm</a:t>
            </a:r>
          </a:p>
          <a:p>
            <a:pPr>
              <a:defRPr sz="1400"/>
            </a:pPr>
            <a:r>
              <a:t>2026-07-29: Tmax ~33.7 °C, UR 59%, chuva 0.19 mm</a:t>
            </a:r>
          </a:p>
          <a:p>
            <a:pPr>
              <a:defRPr sz="1400"/>
            </a:pPr>
            <a:r>
              <a:t>2026-07-30: Tmax ~34.1 °C, UR 57%, chuva 0.37 mm</a:t>
            </a:r>
          </a:p>
          <a:p>
            <a:pPr>
              <a:defRPr sz="1400"/>
            </a:pPr>
            <a:r>
              <a:t>2026-07-31: Tmax ~34.6 °C, UR 49%, chuva 0.00 mm</a:t>
            </a:r>
          </a:p>
          <a:p>
            <a:pPr>
              <a:defRPr sz="1400"/>
            </a:pPr>
            <a:r>
              <a:t>2026-08-01: Tmax ~34.3 °C, UR 45%, chuva 0.05 mm</a:t>
            </a:r>
          </a:p>
          <a:p>
            <a:pPr>
              <a:defRPr sz="1400"/>
            </a:pPr>
            <a:r>
              <a:t>2026-08-02: Tmax ~32.4 °C, UR 53%, chuva 1.60 mm</a:t>
            </a:r>
          </a:p>
          <a:p>
            <a:pPr>
              <a:defRPr sz="1400"/>
            </a:pPr>
            <a:r>
              <a:t>Padrão observado: Tmax elevada, umidade em queda no fim de julho/1º ago., chuva residual — coerente com estiagem, mas é horizonte curto, não sazonal.</a:t>
            </a:r>
          </a:p>
        </p:txBody>
      </p:sp>
      <p:pic>
        <p:nvPicPr>
          <p:cNvPr id="4" name="Picture 3" descr="horizonte_curto_tmax_um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operacional do SIS (hoje)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400"/>
            </a:pPr>
            <a:r>
              <a:t>Municípios: 142 · distribuição: Verde 4, Amarela 21, Laranja 67, Vermelha 34, Roxa 16. (CIEVS-MT, 2026)</a:t>
            </a:r>
          </a:p>
          <a:p>
            <a:pPr>
              <a:defRPr sz="1400"/>
            </a:pPr>
            <a:r>
              <a:t>Sentinela/mais crítico nesta rodada: Rondolândia (ROXA).</a:t>
            </a:r>
          </a:p>
          <a:p>
            <a:pPr>
              <a:defRPr sz="1400"/>
            </a:pPr>
            <a:r>
              <a:t>Tmax máx. no resumo: 36.4 °C</a:t>
            </a:r>
          </a:p>
          <a:p>
            <a:pPr>
              <a:defRPr sz="1400"/>
            </a:pPr>
            <a:r>
              <a:t>Umidade média: 53%</a:t>
            </a:r>
          </a:p>
          <a:p>
            <a:pPr>
              <a:defRPr sz="1400"/>
            </a:pPr>
            <a:r>
              <a:t>Precipitação média: 1.60 mm</a:t>
            </a:r>
          </a:p>
          <a:p>
            <a:pPr>
              <a:defRPr sz="1400"/>
            </a:pPr>
            <a:r>
              <a:t>Pressão assistencial no painel: proxy clima+saúde quando IndicaSUS indisponível (limitação explícita).</a:t>
            </a:r>
          </a:p>
          <a:p>
            <a:pPr>
              <a:defRPr sz="1400"/>
            </a:pPr>
            <a:r>
              <a:t>Uso: priorizar atenção — não declarar ‘epidemia’ ou ‘desastre’ só pelo score.</a:t>
            </a:r>
          </a:p>
        </p:txBody>
      </p:sp>
      <p:pic>
        <p:nvPicPr>
          <p:cNvPr id="4" name="Picture 3" descr="distribuicao_nive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Priorização municipal (output do 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400"/>
            </a:pPr>
            <a:r>
              <a:t>Municípios com maior score nesta extração (ferramenta de priorização): (CIEVS-MT, 2026)</a:t>
            </a:r>
          </a:p>
          <a:p>
            <a:pPr>
              <a:defRPr sz="1400"/>
            </a:pPr>
            <a:r>
              <a:t>Rondolândia — ROXA · score 4</a:t>
            </a:r>
          </a:p>
          <a:p>
            <a:pPr>
              <a:defRPr sz="1400"/>
            </a:pPr>
            <a:r>
              <a:t>Colniza — ROXA · score 4</a:t>
            </a:r>
          </a:p>
          <a:p>
            <a:pPr>
              <a:defRPr sz="1400"/>
            </a:pPr>
            <a:r>
              <a:t>Brasnorte — ROXA · score 4</a:t>
            </a:r>
          </a:p>
          <a:p>
            <a:pPr>
              <a:defRPr sz="1400"/>
            </a:pPr>
            <a:r>
              <a:t>Colíder — ROXA · score 4</a:t>
            </a:r>
          </a:p>
          <a:p>
            <a:pPr>
              <a:defRPr sz="1400"/>
            </a:pPr>
            <a:r>
              <a:t>Barra do Bugres — ROXA · score 4</a:t>
            </a:r>
          </a:p>
          <a:p>
            <a:pPr>
              <a:defRPr sz="1400"/>
            </a:pPr>
            <a:r>
              <a:t>Cuiabá — ROXA · score 4</a:t>
            </a:r>
          </a:p>
          <a:p>
            <a:pPr>
              <a:defRPr sz="1400"/>
            </a:pPr>
            <a:r>
              <a:t>Nova Ubiratã — ROXA · score 4</a:t>
            </a:r>
          </a:p>
        </p:txBody>
      </p:sp>
      <p:pic>
        <p:nvPicPr>
          <p:cNvPr id="4" name="Picture 3" descr="rankin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4204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Predição 7 dias do SIS (o que ela 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400"/>
            </a:pPr>
            <a:r>
              <a:t>Predição operacional ~7 dias: útil para a semana seguinte, não para ‘projetar setembro’. (CIEVS-MT, 2026)</a:t>
            </a:r>
          </a:p>
          <a:p>
            <a:pPr>
              <a:defRPr sz="1400"/>
            </a:pPr>
            <a:r>
              <a:t>Distribuição prevista: Verde 5, Amarela 16, Laranja 51, Vermelha 52, Roxa 18</a:t>
            </a:r>
          </a:p>
          <a:p>
            <a:pPr>
              <a:defRPr sz="1400"/>
            </a:pPr>
            <a:r>
              <a:t>Alta Floresta: ROXA</a:t>
            </a:r>
          </a:p>
          <a:p>
            <a:pPr>
              <a:defRPr sz="1400"/>
            </a:pPr>
            <a:r>
              <a:t>Aripuanã: ROXA</a:t>
            </a:r>
          </a:p>
          <a:p>
            <a:pPr>
              <a:defRPr sz="1400"/>
            </a:pPr>
            <a:r>
              <a:t>Sorriso: ROXA</a:t>
            </a:r>
          </a:p>
          <a:p>
            <a:pPr>
              <a:defRPr sz="1400"/>
            </a:pPr>
            <a:r>
              <a:t>Sinop: ROXA</a:t>
            </a:r>
          </a:p>
          <a:p>
            <a:pPr>
              <a:defRPr sz="1400"/>
            </a:pPr>
            <a:r>
              <a:t>Fontes de sazonalidade (ago.–set.): Painel El Niño / INMET–CPTEC — não este módulo.</a:t>
            </a:r>
          </a:p>
        </p:txBody>
      </p:sp>
      <p:pic>
        <p:nvPicPr>
          <p:cNvPr id="4" name="Picture 3" descr="predicao_7d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Correlação clima–saúde (exploratória)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400"/>
            </a:pPr>
            <a:r>
              <a:t>Spearman municipal persistido no SIS — apoio a hipóteses de vigilância. (CIEVS-MT, 2026)</a:t>
            </a:r>
          </a:p>
          <a:p>
            <a:pPr>
              <a:defRPr sz="1400"/>
            </a:pPr>
            <a:r>
              <a:t>Pares calculados nesta base: 112.</a:t>
            </a:r>
          </a:p>
          <a:p>
            <a:pPr>
              <a:defRPr sz="1400"/>
            </a:pPr>
            <a:r>
              <a:t>Interpretação: associação ecológica; confundidores e defasagens não estão resolvidos aqui.</a:t>
            </a:r>
          </a:p>
          <a:p>
            <a:pPr>
              <a:defRPr sz="1400"/>
            </a:pPr>
            <a:r>
              <a:t>risco_cumulativo_3d → pressao_calor_pct: |ρ|=0.84</a:t>
            </a:r>
          </a:p>
          <a:p>
            <a:pPr>
              <a:defRPr sz="1400"/>
            </a:pPr>
            <a:r>
              <a:t>risco_calor_diario → pressao_calor_pct: |ρ|=0.79</a:t>
            </a:r>
          </a:p>
          <a:p>
            <a:pPr>
              <a:defRPr sz="1400"/>
            </a:pPr>
            <a:r>
              <a:t>utci_proxy → pressao_calor_pct: |ρ|=0.72</a:t>
            </a:r>
          </a:p>
          <a:p>
            <a:pPr>
              <a:defRPr sz="1400"/>
            </a:pPr>
            <a:r>
              <a:t>heat_index → pressao_calor_pct: |ρ|=0.68</a:t>
            </a:r>
          </a:p>
          <a:p>
            <a:pPr>
              <a:defRPr sz="1400"/>
            </a:pPr>
            <a:r>
              <a:t>o3_ugm3 → score: |ρ|=0.65</a:t>
            </a:r>
          </a:p>
        </p:txBody>
      </p:sp>
      <p:pic>
        <p:nvPicPr>
          <p:cNvPr id="4" name="Picture 3" descr="correlacoe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Implicações para vigilância em MT (leitura cautelosa)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Clima (oficial): calor acima da média e chuva abaixo da média no centro-norte no JAS/2026 → estiagem/queimadas como risco contextual. (INMET et al., 2026a)</a:t>
            </a:r>
          </a:p>
          <a:p>
            <a:pPr>
              <a:defRPr sz="1500">
                <a:latin typeface="Calibri"/>
              </a:defRPr>
            </a:pPr>
            <a:r>
              <a:t>Saúde ambiental: em MT, seca e queimadas historicamente coincidem com maior carga respiratória em estudos estaduais de vigilância — usar como alerta de preparação, não como previsão de casos. (MATO GROSSO, [2024?])</a:t>
            </a:r>
          </a:p>
          <a:p>
            <a:pPr>
              <a:defRPr sz="1500">
                <a:latin typeface="Calibri"/>
              </a:defRPr>
            </a:pPr>
            <a:r>
              <a:t>Arboviroses: calor e irregularidade hídrica são condições favoráveis ao vetor em termos gerais; o SIS monitora incidência/z-score municipais para resposta — sem extrapolar curva epidêmica só do ENSO.</a:t>
            </a:r>
          </a:p>
          <a:p>
            <a:pPr>
              <a:defRPr sz="1500">
                <a:latin typeface="Calibri"/>
              </a:defRPr>
            </a:pPr>
            <a:r>
              <a:t>Papel do SIS: consolidar sinais (calor, ar, SRAG, arboviroses, hidro) e priorizar municípios para o CIEVS.</a:t>
            </a:r>
          </a:p>
          <a:p>
            <a:pPr>
              <a:defRPr sz="1500">
                <a:latin typeface="Calibri"/>
              </a:defRPr>
            </a:pPr>
            <a:r>
              <a:t>Hidro na base atual: Cemaden 2 reg.; ANA risco 11 mun. (CIEVS-MT, 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apresentar / usar a ferramenta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1) Abrir o painel (streamlit) e mostrar nível estadual + mapa municipal.</a:t>
            </a:r>
          </a:p>
          <a:p>
            <a:pPr>
              <a:defRPr sz="1500">
                <a:latin typeface="Calibri"/>
              </a:defRPr>
            </a:pPr>
            <a:r>
              <a:t>2) Explicitar: score = síntese operacional; fontes e lacunas (ex.: IndicaSUS) aparecem no painel.</a:t>
            </a:r>
          </a:p>
          <a:p>
            <a:pPr>
              <a:defRPr sz="1500">
                <a:latin typeface="Calibri"/>
              </a:defRPr>
            </a:pPr>
            <a:r>
              <a:t>3) Mostrar correlação e predição 7d com a frase: ‘exploratório / horizonte curto’.</a:t>
            </a:r>
          </a:p>
          <a:p>
            <a:pPr>
              <a:defRPr sz="1500">
                <a:latin typeface="Calibri"/>
              </a:defRPr>
            </a:pPr>
            <a:r>
              <a:t>4) Citar o Painel El Niño para o trimestre; citar o SIS só para o que o banco mede hoje.</a:t>
            </a:r>
          </a:p>
          <a:p>
            <a:pPr>
              <a:defRPr sz="1500">
                <a:latin typeface="Calibri"/>
              </a:defRPr>
            </a:pPr>
            <a:r>
              <a:t>5) Fechar com recomendações de vigilância (calor, ar, vetores, SRAG) — não com números inventados.</a:t>
            </a:r>
          </a:p>
          <a:p>
            <a:pPr>
              <a:defRPr sz="1500">
                <a:latin typeface="Calibri"/>
              </a:defRPr>
            </a:pPr>
            <a:r>
              <a:t>Regenerar slides após atualizar o banco: python gerar_apresentacao_cenario_setembro.py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 (ABNT NBR 6023:2018)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NOAA. Climate Prediction Center. ENSO Diagnostic Discussion. 9 July 2026.</a:t>
            </a:r>
          </a:p>
          <a:p>
            <a:pPr>
              <a:defRPr sz="1200">
                <a:latin typeface="Calibri"/>
              </a:defRPr>
            </a:pPr>
            <a:r>
              <a:t>IRI. ENSO Forecast: July 2026 Quick Look. Columbia Climate School, 2026.</a:t>
            </a:r>
          </a:p>
          <a:p>
            <a:pPr>
              <a:defRPr sz="1200">
                <a:latin typeface="Calibri"/>
              </a:defRPr>
            </a:pPr>
            <a:r>
              <a:t>INMET et al. Painel El Niño 2026-2027: boletim mensal n.º 01. jun. 2026.</a:t>
            </a:r>
          </a:p>
          <a:p>
            <a:pPr>
              <a:defRPr sz="1200">
                <a:latin typeface="Calibri"/>
              </a:defRPr>
            </a:pPr>
            <a:r>
              <a:t>INMET. El Niño 2026: monitoramento, previsões e impactos no Brasil. 2026.</a:t>
            </a:r>
          </a:p>
          <a:p>
            <a:pPr>
              <a:defRPr sz="1200">
                <a:latin typeface="Calibri"/>
              </a:defRPr>
            </a:pPr>
            <a:r>
              <a:t>INPE. Painel El Niño 2026-2027 (notícia institucional). 2026.</a:t>
            </a:r>
          </a:p>
          <a:p>
            <a:pPr>
              <a:defRPr sz="1200">
                <a:latin typeface="Calibri"/>
              </a:defRPr>
            </a:pPr>
            <a:r>
              <a:t>INPE; INMET; FUNCEME; CENSIPAM. Nota técnica conjunta: El Niño 2026.</a:t>
            </a:r>
          </a:p>
          <a:p>
            <a:pPr>
              <a:defRPr sz="1200">
                <a:latin typeface="Calibri"/>
              </a:defRPr>
            </a:pPr>
            <a:r>
              <a:t>MATO GROSSO. SES. Queimadas e internações respiratórias, 2021–2023.</a:t>
            </a:r>
          </a:p>
          <a:p>
            <a:pPr>
              <a:defRPr sz="1200">
                <a:latin typeface="Calibri"/>
              </a:defRPr>
            </a:pPr>
            <a:r>
              <a:t>CIEVS-MT. SIS Integrado Clima-Saúde MT (extração 27 jul. 2026). OPEN-METEO (docs API).</a:t>
            </a:r>
          </a:p>
          <a:p>
            <a:pPr>
              <a:defRPr sz="1200">
                <a:latin typeface="Calibri"/>
              </a:defRPr>
            </a:pPr>
            <a:r>
              <a:t>Lista completa: docs/apresentacoes/REFERENCIAS_ABNT_6023.md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CIEVS-MT · SIS Integrado Clima-Saúde</a:t>
            </a:r>
          </a:p>
          <a:p>
            <a:r>
              <a:t>Fontes oficiais para o El Niño · SIS para monitoramento operacional</a:t>
            </a:r>
          </a:p>
          <a:p>
            <a:r>
              <a:t>Referências completas na norma ABNT NBR 6023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</Words>
  <Application>Microsoft Office PowerPoint</Application>
  <PresentationFormat>Personalizar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Calibri</vt:lpstr>
      <vt:lpstr>Open Sans Ultra-Bold</vt:lpstr>
      <vt:lpstr>Uni Sans</vt:lpstr>
      <vt:lpstr>Open Sans Bold</vt:lpstr>
      <vt:lpstr>Open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Padrão</dc:title>
  <cp:lastModifiedBy>Robinson Borborema</cp:lastModifiedBy>
  <cp:revision>2</cp:revision>
  <dcterms:created xsi:type="dcterms:W3CDTF">2006-08-16T00:00:00Z</dcterms:created>
  <dcterms:modified xsi:type="dcterms:W3CDTF">2026-07-24T20:43:38Z</dcterms:modified>
  <dc:identifier>DAHMw4jdhZo</dc:identifier>
</cp:coreProperties>
</file>