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(1 min): Apresente-se (CIEVS). Diga que o SIS é a ferramenta de monitoramento que alimenta a leitura de risco clima–saúde alinhada ao Plano de Contingência seca/estiagem 2026-2027.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(0,5–1 min): Mostre o relógio mental. Prometa demonstração conceitual do painel, não tour longo de telas.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(3 min): Use o PPT do Plano (DOC-WA) como âncora política. Não releia o plano — diga que o SIS é o radar diário que sustenta aqueles eixos e níveis.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(2 min): Conte um exemplo real de plantão (calor + fumaça + ocupação).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(3 min): Repita o limite: predição ~7 dias ≠ forecast sazonal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(2,5 min): Enfatize política SES: sem scrapers ofuscados; User-Agent SIS-Clima-Saude-MT. DW quando a rede permitir; fallback CSV/sample documentado.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(2 min): Relacione Verde≈Nível 0; Amarela/Laranja≈Mobilização/Alerta; Vermelha/Roxa≈Emergência/necessidade de articulação ampliada — sem afirmar equivalência jurídica automática.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(2 min): Se possível, alterne para o navegador (localhost:8501) por 60–90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(2 min): Mostre um mapa de nível e um de tensão climática.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(3 min): Explique o ‘máximo’ como regra conservadora de segurança sanitária.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(2 min): Deixe claro: o SIS apoia; a decisão clínica/gestora continua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(1,5 min): Mensagem para TI: tráfego auditável reduz risco de bloqueio.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(2 min): Mostre o DOC-WA nos níveis e diga que o SIS é o radar diário.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(1,5 min): Imprima este slide como cartão de plantão.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(1 min): Reforce estabilidade após refatoração.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(2 min): Mostre a aba Alertas no painel — abas ①②③④.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(2 min): Peça donos: CIEVS (rotina), TI (rede), assistência (ocupação).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(2–3 min): Abra para perguntas. Ofereça demonstração guiada após a reunião.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8A6E"/>
                </a:solidFill>
                <a:latin typeface="Calibri"/>
              </a:rPr>
              <a:t>CIEVS-MT · SES-MT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SIS Clima-Saúde 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BE3"/>
                </a:solidFill>
                <a:latin typeface="Calibri"/>
              </a:rPr>
              <a:t>Vigilância integrada clima–saúde para apoiar o plantão,
o Plano de Contingência (seca e estiagem) e a resposta estadual.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7BC"/>
                </a:solidFill>
                <a:latin typeface="Calibri"/>
              </a:rPr>
              <a:t>Apresentação operacional · ~20 minutos · 28/07/2026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Roteiro (~20 minutos)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Uma pergunta por bloco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A2E28"/>
                </a:solidFill>
                <a:latin typeface="Calibri"/>
              </a:rPr>
              <a:t>• Por que clima e saúde juntos em Mato Grosso? (3 min)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2E28"/>
                </a:solidFill>
                <a:latin typeface="Calibri"/>
              </a:rPr>
              <a:t>• O que é o SIS Clima-Saúde e o que ele NÃO é (3 min)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2E28"/>
                </a:solidFill>
                <a:latin typeface="Calibri"/>
              </a:rPr>
              <a:t>• Fontes, níveis operacionais e mapas municipais (5 min)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2E28"/>
                </a:solidFill>
                <a:latin typeface="Calibri"/>
              </a:rPr>
              <a:t>• TITAN, solo, alertas e AdaptaSUS no plantão (5 min)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A2E28"/>
                </a:solidFill>
                <a:latin typeface="Calibri"/>
              </a:rPr>
              <a:t>• Governança técnica, próximos passos e perguntas (4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Contexto estadual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Plano de Contingência — seca, estiagem e calor (2026–2027)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Objetivo do Plano: coordenar vigilância e atenção para mitigar impactos de seca/estiagem.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Base: CME/CIEVS, Sala de Situação SES-MT, decreto de emergência por incêndios (2024).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Cenário: seca extrema, calor &gt;40 °C, focos de calor e sobrecarga assistencial no período seco.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Níveis de resposta do Plano (0 → IV) exigem indicadores contínuos e territoriais.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371600"/>
            <a:ext cx="42062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371600"/>
            <a:ext cx="109728" cy="420624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1" y="1508760"/>
            <a:ext cx="3840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Papel do 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1" y="1828800"/>
            <a:ext cx="384047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Traduz clima, ar, água, solo, assistência e agravos em um nível operacional municipal para o CIEVS decidir com a mesma lógica de preparação/resposta do Plano.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 problema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Dados existem — a decisão precisa ser integrada e oportuna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09728" cy="4389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173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Fragmentação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37360"/>
            <a:ext cx="329184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Clima (INMET/Open-Meteo), queimadas/ar, Cemaden, ANA, IndicaSUS/CNES, SIVEP, SINAN e sentinela vivem em silos diferentes.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109728" cy="4389120"/>
          </a:xfrm>
          <a:prstGeom prst="rect">
            <a:avLst/>
          </a:prstGeom>
          <a:solidFill>
            <a:srgbClr val="C4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4173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Tempo do plantão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737360"/>
            <a:ext cx="329184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O CIEVS precisa de leitura estadual + municipal em minutos, com motivo, orientação e fila de atenção — não de dezenas de planilhas.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109728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4173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Resposta escalonada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737360"/>
            <a:ext cx="329184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Os níveis do Plano (mobilização → crise) pedem evidência rastreável para acionar vigilâncias, assistência e comunicação.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 que é o SIS Clima-Saúde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Painel único de vigilância integrada — CIEVS-MT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Sistema operacional que cruza exposição climática/ambiental com desfechos e capacidade assistencial.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Cobre os 142 municípios de MT com mapas por polígono (shapefile), filtros por regional e município.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Produz nível operacional (verde→roxa), score, motivos, orientação em linguagem simples e predição ~7 dias.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Incorpora camada TITAN (calor, solo, INMET/Cemaden) e alinhamento AdaptaSUS / guia MS.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Não substitui boletins oficiais de longo prazo (ex.: cenário de setembro) — complementa com horizonte curto.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Fontes e 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APIs/SQL oficiais · código legível · auditável na rede 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3703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09728" cy="20116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716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Clima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91640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Open-Meteo (Tmax, umidade, vento, precipitação, solo)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34440"/>
            <a:ext cx="3703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34440"/>
            <a:ext cx="109728" cy="201168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3716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Alertas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40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INMET · Cemaden (wsAlertas2) · ANA telemetria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34440"/>
            <a:ext cx="3703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109728" cy="20116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1" y="13716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1691640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Copernicus/CAMS (quando disponível) + proxies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520440"/>
            <a:ext cx="3703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520440"/>
            <a:ext cx="109728" cy="201168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6576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Saúde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977639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DW SINAN/SIVEP · IndicaSUS/CNES · sentinela SG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520440"/>
            <a:ext cx="3703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520440"/>
            <a:ext cx="109728" cy="20116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6576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Território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977639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Shapefile IBGE/MT · população · regionais de saúde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520440"/>
            <a:ext cx="3703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3520440"/>
            <a:ext cx="109728" cy="201168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9911" y="365760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Entrega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1" y="3977639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PostgreSQL/Docker · Streamlit · alertas e-mail/Telegram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Níveis operacionais do 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Leitura compatível com a lógica de resposta do Plano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1155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920240" cy="502920"/>
          </a:xfrm>
          <a:prstGeom prst="round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90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Verde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9047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E28"/>
                </a:solidFill>
                <a:latin typeface="Calibri"/>
              </a:rPr>
              <a:t>Normalidade / vigilância de rotina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94560"/>
            <a:ext cx="11155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377440"/>
            <a:ext cx="1920240" cy="502920"/>
          </a:xfrm>
          <a:prstGeom prst="roundRect">
            <a:avLst/>
          </a:prstGeom>
          <a:solidFill>
            <a:srgbClr val="C4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50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Amarela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45059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E28"/>
                </a:solidFill>
                <a:latin typeface="Calibri"/>
              </a:rPr>
              <a:t>Atenção — desvio inicial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54680"/>
            <a:ext cx="11155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192024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107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Laranja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41071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E28"/>
                </a:solidFill>
                <a:latin typeface="Calibri"/>
              </a:rPr>
              <a:t>Alerta — pressão assistencial/climática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11155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297680"/>
            <a:ext cx="192024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708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Vermelha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37083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E28"/>
                </a:solidFill>
                <a:latin typeface="Calibri"/>
              </a:rPr>
              <a:t>Alerta alto — resposta ampliada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74920"/>
            <a:ext cx="11155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257800"/>
            <a:ext cx="1920240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30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Roxa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33095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E28"/>
                </a:solidFill>
                <a:latin typeface="Calibri"/>
              </a:rPr>
              <a:t>Mobilização plena CIEVS / articulação estadual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Situação na rodada atual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Snapshot do banco operacional (se disponível)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09728" cy="2194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08760"/>
            <a:ext cx="10789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Leitura executiva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28800"/>
            <a:ext cx="1078991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Base: postgresql · Municípios: 142
Município mais crítico (score): Peixoto de Azevedo
Nível no topo: roxa
Distribuição: amarela: 34, laranja: 64, vermelha: 24, roxa: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No painel: Visão executiva → Mapas → Clima/TITAN → Alertas.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Filtros por Regional de Saúde e Município no topo (sem menu lateral confuso).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2E28"/>
                </a:solidFill>
                <a:latin typeface="Calibri"/>
              </a:rPr>
              <a:t>• Cada cor no mapa = polígono municipal (não pontos).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Mapas cloropléticos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Shapefile municipal MT — decisão territorial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E28"/>
                </a:solidFill>
                <a:latin typeface="Calibri"/>
              </a:rPr>
              <a:t>• Geometria oficial dos municípios (shapefile / GeoJSON processado).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E28"/>
                </a:solidFill>
                <a:latin typeface="Calibri"/>
              </a:rPr>
              <a:t>• Indicadores: nível, tensão climática, carga em saúde, ocupação, PM2,5, solo, arboviroses, SRAG.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E28"/>
                </a:solidFill>
                <a:latin typeface="Calibri"/>
              </a:rPr>
              <a:t>• Evita leitura por ‘pontinhos’ — mostra área real do município para regionais e gestores.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E28"/>
                </a:solidFill>
                <a:latin typeface="Calibri"/>
              </a:rPr>
              <a:t>• Recorte por regional preserva o contexto estadual no topo do painel.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TITAN + alerta integrado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Calor, solo, hidrologia e canais oficiais no mesmo máximo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09728" cy="44805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173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Camada TITAN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37360"/>
            <a:ext cx="51206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UTCI/proxy, ondas de calor, saturação do solo (Open-Meteo), resiliência de leitos (IndicaSUS+CNES), risco hidro (ANA).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109728" cy="4480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173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Alerta integrado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37360"/>
            <a:ext cx="51206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nivel_alerta_integrado = máximo entre SIS, INMET, Cemaden, solo, hidro e calor — com justificativa em linguagem de plantão.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AdaptaSUS e indicadores 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Alinhamento conceitual — sem inventar protocolo paralelo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Aba AdaptaSUS / Guia MS: riscos climáticos e recomendações de adaptação em saúde.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SIVEP e Sentinela SG com catálogo alinhado a indicadores MS/SVSA.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Sazonalidade e odds ratio para apoiar leitura epidemiológica–climática (com cautela causal).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Ajudante de interpretação: cards de guia + texto justificativo (padrão Meningites/CIEVS).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Governança técnica na rede 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Transparência para TI e para a vigilância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Proibido: código ofuscado/esfumaçado, scrapers stealth, bypass de WAF/CAPTCHA.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Obrigatório: Python legível, SQL versionado em sql/, User-Agent institucional identificável.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Segredos só em .env / secrets do Streamlit — nunca no GitHub.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Deploy: GitHub (branch painel-v9) · Streamlit Community Cloud · Docker local 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Ponte operacional: Plano × 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Correspondência prudente — não é equivalência jurídica automática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657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09728" cy="10515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173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Plano Nível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37360"/>
            <a:ext cx="32918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SIS Verde → Rotina / monitoramento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3657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109728" cy="10515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606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Plano Nível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26080"/>
            <a:ext cx="32918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SIS Amarela–Laranja → Mobilização / atenção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3657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09728" cy="10515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794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Plano Nível 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114800"/>
            <a:ext cx="32918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SIS Laranja–Vermelha → Alerta / pressão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46320"/>
            <a:ext cx="3657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846320"/>
            <a:ext cx="109728" cy="10515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983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Plano Nível III–IV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303520"/>
            <a:ext cx="32918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SIS Vermelha–Roxa → Emergência / articulação plena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371600"/>
            <a:ext cx="7132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E28"/>
                </a:solidFill>
                <a:latin typeface="Calibri"/>
              </a:rPr>
              <a:t>Use o SIS para priorizar município/regional e alimentar a Sala de Situação.
A ativação formal de COE/Portarias continua nos fluxos do Plano e da gestão.
O painel entrega: nível, motivo, orientação leiga, mapa e fila de atenção.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Checklist do plantão (5 minutos)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Rotina mínima no CIEVS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E28"/>
                </a:solidFill>
                <a:latin typeface="Calibri"/>
              </a:rPr>
              <a:t>• 1. Abrir Visão executiva — ler nível estadual e município crítico.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E28"/>
                </a:solidFill>
                <a:latin typeface="Calibri"/>
              </a:rPr>
              <a:t>• 2. Abrir Mapas — cloropleta de nível / tensão climática.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E28"/>
                </a:solidFill>
                <a:latin typeface="Calibri"/>
              </a:rPr>
              <a:t>• 3. Abrir Clima/TITAN — solo, INMET/Cemaden, calor.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E28"/>
                </a:solidFill>
                <a:latin typeface="Calibri"/>
              </a:rPr>
              <a:t>• 4. Abrir Alertas — fila de atenção e alerta integrado.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2E28"/>
                </a:solidFill>
                <a:latin typeface="Calibri"/>
              </a:rPr>
              <a:t>• 5. Registrar decisão (comunicado interno / encaminhamento à regional).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Mapa das abas do painel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Tudo executável — com estado vazio quando a fonte faltar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Executivo / Mapas / Clima·TITAN / Ar / Assistência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Arboviroses / SIVEP / Sentinela / GeoCalor / AdaptaSUS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Correlação / Cemaden·ANA / Sazonalidade·OR / Operacional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Geografia / Inteligência / Alertas / Cálculos / Guia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Regra: aba nunca derruba o painel; informa o que falta e como gerar.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Alertas em 4 níveis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Ícones · indicadores · predição · orientações por público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5486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09728" cy="21031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① Estadual → SES/CIEVS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9164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Boletim do estado com distribuição de níveis e pred 7d.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34440"/>
            <a:ext cx="5486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② Regional + municípios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69164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Cada Regional de Saúde e sua jurisdição municipal.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520440"/>
            <a:ext cx="5486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520440"/>
            <a:ext cx="109728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657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③ Municipal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977639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SMS/plantão — a partir do nível mínimo (ex.: laranja).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520440"/>
            <a:ext cx="5486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520440"/>
            <a:ext cx="109728" cy="210312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657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352E"/>
                </a:solidFill>
                <a:latin typeface="Calibri"/>
              </a:rPr>
              <a:t>④ Vigidesastre Cuiabá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977639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28"/>
                </a:solidFill>
                <a:latin typeface="Calibri"/>
              </a:rPr>
              <a:t>Pacote dedicado IBGE 5103403 com as mesmas seções.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E6DC"/>
                </a:solidFill>
                <a:latin typeface="Calibri"/>
              </a:rPr>
              <a:t>Do painel à rotina do CIEVS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Padronizar abertura do painel no plantão (checklist de 5 minutos).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Validar boletins multinível no painel antes de armar SEND_ALERT.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Completar CSV de contatos (estadual/regional/municipal/Cuiabá).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Expandir nowcasting/forecasting e séries SIM/GAL/GeoCalor no Postgres.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E28"/>
                </a:solidFill>
                <a:latin typeface="Calibri"/>
              </a:rPr>
              <a:t>• Articular indicadores do SIS aos gatilhos do Plano de Contingência.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C56"/>
                </a:solidFill>
                <a:latin typeface="Calibri"/>
              </a:rPr>
              <a:t>CIEVS-MT · SIS Clima-Saúde · Código legível · Fontes oficiais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B5C56"/>
                </a:solidFill>
                <a:latin typeface="Calibri"/>
              </a:rP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BE3"/>
                </a:solidFill>
                <a:latin typeface="Calibri"/>
              </a:rPr>
              <a:t>SIS Clima-Saúde MT — vigilância para decidir a tempo.
Perguntas e encaminhamentos.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C7BC"/>
                </a:solidFill>
                <a:latin typeface="Calibri"/>
              </a:rPr>
              <a:t>CIEVS-MT · SES-MT
Painel: http://localhost:8501 · docs/VISAO_OPERACIONAL_SIS_CLIMA_SAUDE.md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