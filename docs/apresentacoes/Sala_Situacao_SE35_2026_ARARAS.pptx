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51B4"/>
                </a:solidFill>
              </a:defRPr>
            </a:pPr>
            <a:r>
              <a:t>Sala de Situação CIEVS-MT — ARARAS MT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Boletim El Niño · SE 35/2026 · material editável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Portaria n.º 0590/2026/GBSES</a:t>
            </a:r>
          </a:p>
          <a:p>
            <a:pPr>
              <a:spcAft>
                <a:spcPts val="800"/>
              </a:spcAft>
              <a:defRPr sz="1600"/>
            </a:pPr>
            <a:r>
              <a:t>Fonte operacional: ARARAS MT / CIEVS-MT</a:t>
            </a:r>
          </a:p>
          <a:p>
            <a:pPr>
              <a:spcAft>
                <a:spcPts val="800"/>
              </a:spcAft>
              <a:defRPr sz="1600"/>
            </a:pPr>
            <a:r>
              <a:t>Complementos: e-SUS APS (Centralizador) · STAR/GeoCalor (CDS ERA5-Land)</a:t>
            </a:r>
          </a:p>
          <a:p>
            <a:pPr>
              <a:spcAft>
                <a:spcPts val="800"/>
              </a:spcAft>
              <a:defRPr sz="1600"/>
            </a:pPr>
            <a:r>
              <a:t>Associação ecológica — não implica causalidade individual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51B4"/>
                </a:solidFill>
              </a:defRPr>
            </a:pPr>
            <a:r>
              <a:t>Cartões executivos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Rodada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Vermelho/roxo atual: 109/142</a:t>
            </a:r>
          </a:p>
          <a:p>
            <a:pPr>
              <a:spcAft>
                <a:spcPts val="800"/>
              </a:spcAft>
              <a:defRPr sz="1600"/>
            </a:pPr>
            <a:r>
              <a:t>Projeção ~7 dias: 130/142</a:t>
            </a:r>
          </a:p>
          <a:p>
            <a:pPr>
              <a:spcAft>
                <a:spcPts val="800"/>
              </a:spcAft>
              <a:defRPr sz="1600"/>
            </a:pPr>
            <a:r>
              <a:t>Tmáx máxima: 39,2 °C</a:t>
            </a:r>
          </a:p>
          <a:p>
            <a:pPr>
              <a:spcAft>
                <a:spcPts val="800"/>
              </a:spcAft>
              <a:defRPr sz="1600"/>
            </a:pPr>
            <a:r>
              <a:t>Mun. Tmáx ≥ 37 °C: 9</a:t>
            </a:r>
          </a:p>
          <a:p>
            <a:pPr>
              <a:spcAft>
                <a:spcPts val="800"/>
              </a:spcAft>
              <a:defRPr sz="1600"/>
            </a:pPr>
            <a:r>
              <a:t>Mun. PM2,5 ≥ 25: 18</a:t>
            </a:r>
          </a:p>
          <a:p>
            <a:pPr>
              <a:spcAft>
                <a:spcPts val="800"/>
              </a:spcAft>
              <a:defRPr sz="1600"/>
            </a:pPr>
            <a:r>
              <a:t>Focos 7d (referência): 707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51B4"/>
                </a:solidFill>
              </a:defRPr>
            </a:pPr>
            <a:r>
              <a:t>Atenção primária — e-SUS APS × clima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Centralizador PEC/eSUS · cruzamento ARARAS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Municípios: 142 · críticos VR: 109</a:t>
            </a:r>
          </a:p>
          <a:p>
            <a:pPr>
              <a:spcAft>
                <a:spcPts val="800"/>
              </a:spcAft>
              <a:defRPr sz="1600"/>
            </a:pPr>
            <a:r>
              <a:t>Cadastro asma 26.847 · idosos 60+ 727.991 · gestantes 192.553</a:t>
            </a:r>
          </a:p>
          <a:p>
            <a:pPr>
              <a:spcAft>
                <a:spcPts val="800"/>
              </a:spcAft>
              <a:defRPr sz="1600"/>
            </a:pPr>
            <a:r>
              <a:t>Atendimentos 28d 14.636 · CID resp. 28d 116</a:t>
            </a:r>
          </a:p>
          <a:p>
            <a:pPr>
              <a:spcAft>
                <a:spcPts val="800"/>
              </a:spcAft>
              <a:defRPr sz="1600"/>
            </a:pPr>
            <a:r>
              <a:t>Média asma (VR vs demais): 218 vs 92</a:t>
            </a:r>
          </a:p>
          <a:p>
            <a:pPr>
              <a:spcAft>
                <a:spcPts val="800"/>
              </a:spcAft>
              <a:defRPr sz="1600"/>
            </a:pPr>
            <a:r>
              <a:t>Spearman atend.28d × Tmáx: ρ=-0,00 (n=142)</a:t>
            </a:r>
          </a:p>
          <a:p>
            <a:pPr>
              <a:spcAft>
                <a:spcPts val="800"/>
              </a:spcAft>
              <a:defRPr sz="1600"/>
            </a:pPr>
            <a:r>
              <a:t>Spearman CID resp. × PM2,5: ρ=-0,14 (n=142)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51B4"/>
                </a:solidFill>
              </a:defRPr>
            </a:pPr>
            <a:r>
              <a:t>Ondas de calor — STAR / GeoCalor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EHF Nairn &amp; Fawcett · CDS ERA5-Land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Flag operacional onda (P95≥2d): 1 municípios</a:t>
            </a:r>
          </a:p>
          <a:p>
            <a:pPr>
              <a:spcAft>
                <a:spcPts val="800"/>
              </a:spcAft>
              <a:defRPr sz="1600"/>
            </a:pPr>
            <a:r>
              <a:t>Tmáx máx. (STAR/resumo): 39,3 °C</a:t>
            </a:r>
          </a:p>
          <a:p>
            <a:pPr>
              <a:spcAft>
                <a:spcPts val="800"/>
              </a:spcAft>
              <a:defRPr sz="1600"/>
            </a:pPr>
            <a:r>
              <a:t>Catálogo EHF: GeoCalor_EHF_NairnFawcett_3d</a:t>
            </a:r>
          </a:p>
          <a:p>
            <a:pPr>
              <a:spcAft>
                <a:spcPts val="800"/>
              </a:spcAft>
              <a:defRPr sz="1600"/>
            </a:pPr>
            <a:r>
              <a:t>Janela carga: ['2021-07-24', '2026-09-03']</a:t>
            </a:r>
          </a:p>
          <a:p>
            <a:pPr>
              <a:spcAft>
                <a:spcPts val="800"/>
              </a:spcAft>
              <a:defRPr sz="1600"/>
            </a:pPr>
            <a:r>
              <a:t>Eventos EHF: 1.386 · dias de onda: 9.236</a:t>
            </a:r>
          </a:p>
          <a:p>
            <a:pPr>
              <a:spcAft>
                <a:spcPts val="800"/>
              </a:spcAft>
              <a:defRPr sz="1600"/>
            </a:pPr>
            <a:r>
              <a:t>Fonte: cache_local</a:t>
            </a:r>
          </a:p>
          <a:p>
            <a:pPr>
              <a:spcAft>
                <a:spcPts val="800"/>
              </a:spcAft>
              <a:defRPr sz="1600"/>
            </a:pPr>
            <a:r>
              <a:t>GeoCalor público não cobre Cuiabá/MT — ARARAS aplica EHF aos 142 municípios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51B4"/>
                </a:solidFill>
              </a:defRPr>
            </a:pPr>
            <a:r>
              <a:t>Prioridades para a Sala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Encaminhamentos operacionais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Manter vigilância de calor/desidratação e agravos respiratórios em VR</a:t>
            </a:r>
          </a:p>
          <a:p>
            <a:pPr>
              <a:spcAft>
                <a:spcPts val="800"/>
              </a:spcAft>
              <a:defRPr sz="1600"/>
            </a:pPr>
            <a:r>
              <a:t>APS: busca ativa em idosos, asma/DPOC, gestantes e acamados nos críticos</a:t>
            </a:r>
          </a:p>
          <a:p>
            <a:pPr>
              <a:spcAft>
                <a:spcPts val="800"/>
              </a:spcAft>
              <a:defRPr sz="1600"/>
            </a:pPr>
            <a:r>
              <a:t>Cruzar ocupação IndicaSUS com pressão térmica e fumaça (não inventar % estadual)</a:t>
            </a:r>
          </a:p>
          <a:p>
            <a:pPr>
              <a:spcAft>
                <a:spcPts val="800"/>
              </a:spcAft>
              <a:defRPr sz="1600"/>
            </a:pPr>
            <a:r>
              <a:t>Acompanhar carga CDS 2020–2026 e atualizar Anexo STAR quando concluir</a:t>
            </a:r>
          </a:p>
          <a:p>
            <a:pPr>
              <a:spcAft>
                <a:spcPts val="800"/>
              </a:spcAft>
              <a:defRPr sz="1600"/>
            </a:pPr>
            <a:r>
              <a:t>Reavaliar projeção ~7d na próxima rodada (chuva recente × retorno do calor)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