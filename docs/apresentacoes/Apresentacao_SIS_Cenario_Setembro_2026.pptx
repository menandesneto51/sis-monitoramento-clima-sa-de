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Open Sans Bold" pitchFamily="2" charset="0"/>
      <p:regular r:id="rId14"/>
      <p:bold r:id="rId15"/>
    </p:embeddedFont>
    <p:embeddedFont>
      <p:font typeface="Open Sans Ultra-Bold" panose="020B0604020202020204" charset="0"/>
      <p:regular r:id="rId16"/>
    </p:embeddedFont>
    <p:embeddedFont>
      <p:font typeface="Uni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5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 Clima-Saúde MT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Cenário operacional setembro 2026</a:t>
            </a:r>
          </a:p>
          <a:p>
            <a:r>
              <a:t>CIEVS-MT · Vigilância integrada clima–saúde</a:t>
            </a:r>
          </a:p>
          <a:p>
            <a:r>
              <a:t>Extração 27/07/2026 · 142 municípios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e disclaimer metodológico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latin typeface="Calibri"/>
              </a:defRPr>
            </a:pPr>
            <a:r>
              <a:t>Objetivo: apresentar o cenário operacional prospectivo para set/2026 com o que o SIS já produz.</a:t>
            </a:r>
          </a:p>
          <a:p>
            <a:pPr>
              <a:defRPr sz="1500">
                <a:latin typeface="Calibri"/>
              </a:defRPr>
            </a:pPr>
            <a:r>
              <a:t>DISCLAIMER: a predição numérica do SIS cobre cerca de 7 dias — não é forecast climático mensal. (CIEVS-MT, 2026) (OPEN-METEO, 2026)</a:t>
            </a:r>
          </a:p>
          <a:p>
            <a:pPr>
              <a:defRPr sz="1500">
                <a:latin typeface="Calibri"/>
              </a:defRPr>
            </a:pPr>
            <a:r>
              <a:t>O ‘cenário de setembro’ = (1) achados atuais do SIS + (2) riscos sazonais típicos de setembro no MT + (3) o que o painel passará a vigiar no mês.</a:t>
            </a:r>
          </a:p>
          <a:p>
            <a:pPr>
              <a:defRPr sz="1500">
                <a:latin typeface="Calibri"/>
              </a:defRPr>
            </a:pPr>
            <a:r>
              <a:t>Associações clima–saúde são ecológicas/exploratórias — não causalidade individual. (CIEVS-MT, 2026)</a:t>
            </a:r>
          </a:p>
          <a:p>
            <a:pPr>
              <a:defRPr sz="1500">
                <a:latin typeface="Calibri"/>
              </a:defRPr>
            </a:pPr>
            <a:r>
              <a:t>Roteiro de fala: ‘7 dias = número do sistema; setembro = leitura sazonal operacional’.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o SIS integra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Clima/biometeo (Open-Meteo): Tmax, umidade, UTCI, risco cumulativo, onda de calor P95.</a:t>
            </a:r>
          </a:p>
          <a:p>
            <a:pPr>
              <a:defRPr sz="1300"/>
            </a:pPr>
            <a:r>
              <a:t>Saúde: SIVEP/SRAG, arboviroses, Sentinela SG, GeoCalor.</a:t>
            </a:r>
          </a:p>
          <a:p>
            <a:pPr>
              <a:defRPr sz="1300"/>
            </a:pPr>
            <a:r>
              <a:t>Ambiente: qualidade do ar (PM2,5/PM10/O3 quando disponível).</a:t>
            </a:r>
          </a:p>
          <a:p>
            <a:pPr>
              <a:defRPr sz="1300"/>
            </a:pPr>
            <a:r>
              <a:t>Hidrologia: Cemaden e ANA.</a:t>
            </a:r>
          </a:p>
          <a:p>
            <a:pPr>
              <a:defRPr sz="1300"/>
            </a:pPr>
            <a:r>
              <a:t>Inteligência: score/nível Verde→Roxa, correlação Spearman, predição 7d, alerta inteligente.</a:t>
            </a:r>
          </a:p>
          <a:p>
            <a:pPr>
              <a:defRPr sz="1300"/>
            </a:pPr>
            <a:r>
              <a:t>Backend: postgresql · última pipeline: 2026-07-27T08:36:59 · success · Nível roxa. (CIEVS-MT, 2026)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200"/>
            </a:pPr>
            <a:r>
              <a:t>Painel Streamlit — blocos:</a:t>
            </a:r>
          </a:p>
          <a:p>
            <a:pPr>
              <a:defRPr sz="1200"/>
            </a:pPr>
            <a:r>
              <a:t>Situação · Clima · Saúde</a:t>
            </a:r>
          </a:p>
          <a:p>
            <a:pPr>
              <a:defRPr sz="1200"/>
            </a:pPr>
            <a:r>
              <a:t>Hidrologia · Operação · Método</a:t>
            </a:r>
          </a:p>
          <a:p>
            <a:pPr>
              <a:defRPr sz="1200"/>
            </a:pPr>
            <a:r>
              <a:t>Filtros: regional e município</a:t>
            </a:r>
          </a:p>
          <a:p>
            <a:pPr>
              <a:defRPr sz="1200"/>
            </a:pPr>
            <a:r>
              <a:t>Mapas por shapefile IBGE</a:t>
            </a:r>
          </a:p>
          <a:p>
            <a:pPr>
              <a:defRPr sz="1200"/>
            </a:pPr>
            <a:r>
              <a:t>Cobertura clima: 142/142</a:t>
            </a:r>
          </a:p>
          <a:p>
            <a:pPr>
              <a:defRPr sz="1200"/>
            </a:pPr>
            <a:r>
              <a:t>SRAG: 142/142</a:t>
            </a:r>
          </a:p>
          <a:p>
            <a:pPr>
              <a:defRPr sz="1200"/>
            </a:pPr>
            <a:r>
              <a:t>PM2,5: 12/142</a:t>
            </a:r>
          </a:p>
          <a:p>
            <a:pPr>
              <a:defRPr sz="1200"/>
            </a:pPr>
            <a:r>
              <a:t>Ocupação leitos: 0/142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Situação atual do Estado (baseline 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Municípios monitorados: 142.</a:t>
            </a:r>
          </a:p>
          <a:p>
            <a:pPr>
              <a:defRPr sz="1300"/>
            </a:pPr>
            <a:r>
              <a:t>Distribuição por nível: Verde 4, Amarela 21, Laranja 67, Vermelha 34, Roxa 16. (CIEVS-MT, 2026)</a:t>
            </a:r>
          </a:p>
          <a:p>
            <a:pPr>
              <a:defRPr sz="1300"/>
            </a:pPr>
            <a:r>
              <a:t>Sentinela / mais crítico nesta rodada: Rondolândia (ROXA).</a:t>
            </a:r>
          </a:p>
          <a:p>
            <a:pPr>
              <a:defRPr sz="1300"/>
            </a:pPr>
            <a:r>
              <a:t>Tmax máx.: 36.4 °C · UR média: 53% · chuva média: 1.60 mm</a:t>
            </a:r>
          </a:p>
          <a:p>
            <a:pPr>
              <a:defRPr sz="1300"/>
            </a:pPr>
            <a:r>
              <a:t>Risco cumulativo 3d médio: 8.3 · municípios em onda P95≥2d: 5.</a:t>
            </a:r>
          </a:p>
          <a:p>
            <a:pPr>
              <a:defRPr sz="1300"/>
            </a:pPr>
            <a:r>
              <a:t>SRAG (soma municipal): ~364 casos · arbovírus 7d: ~198 onde há dado.</a:t>
            </a:r>
          </a:p>
          <a:p>
            <a:pPr>
              <a:defRPr sz="1300"/>
            </a:pPr>
            <a:r>
              <a:t>Uso: priorizar atenção — não declarar epidemia/desastre só pelo score.</a:t>
            </a:r>
          </a:p>
        </p:txBody>
      </p:sp>
      <p:pic>
        <p:nvPicPr>
          <p:cNvPr id="4" name="Picture 3" descr="distribuicao_nive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Municípios mais críticos (ranking 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Municípios com maior score nesta extração (priorização CIEVS): (CIEVS-MT, 2026)</a:t>
            </a:r>
          </a:p>
          <a:p>
            <a:pPr>
              <a:defRPr sz="1300"/>
            </a:pPr>
            <a:r>
              <a:t>Rondolândia — ROXA · score 4 · risco3d 18.76711169484623</a:t>
            </a:r>
          </a:p>
          <a:p>
            <a:pPr>
              <a:defRPr sz="1300"/>
            </a:pPr>
            <a:r>
              <a:t>Colniza — ROXA · score 4 · risco3d 18.662977849636704</a:t>
            </a:r>
          </a:p>
          <a:p>
            <a:pPr>
              <a:defRPr sz="1300"/>
            </a:pPr>
            <a:r>
              <a:t>Brasnorte — ROXA · score 4 · risco3d 12.599302732155625</a:t>
            </a:r>
          </a:p>
          <a:p>
            <a:pPr>
              <a:defRPr sz="1300"/>
            </a:pPr>
            <a:r>
              <a:t>Colíder — ROXA · score 4 · risco3d 12.575914468137785</a:t>
            </a:r>
          </a:p>
          <a:p>
            <a:pPr>
              <a:defRPr sz="1300"/>
            </a:pPr>
            <a:r>
              <a:t>Barra do Bugres — ROXA · score 4 · risco3d 11.630045887463947</a:t>
            </a:r>
          </a:p>
          <a:p>
            <a:pPr>
              <a:defRPr sz="1300"/>
            </a:pPr>
            <a:r>
              <a:t>Cuiabá — ROXA · score 4 · risco3d 10.741237529559433</a:t>
            </a:r>
          </a:p>
          <a:p>
            <a:pPr>
              <a:defRPr sz="1300"/>
            </a:pPr>
            <a:r>
              <a:t>Nova Ubiratã — ROXA · score 4 · risco3d 9.8972223821845</a:t>
            </a:r>
          </a:p>
          <a:p>
            <a:pPr>
              <a:defRPr sz="1300"/>
            </a:pPr>
            <a:r>
              <a:t>Campinápolis — ROXA · score 4 · risco3d 9.171017233488948</a:t>
            </a:r>
          </a:p>
          <a:p>
            <a:pPr>
              <a:defRPr sz="1300"/>
            </a:pPr>
            <a:r>
              <a:t>Mapa detalhado: painel Situação / Mapas (shapefile municipal).</a:t>
            </a:r>
          </a:p>
        </p:txBody>
      </p:sp>
      <p:pic>
        <p:nvPicPr>
          <p:cNvPr id="4" name="Picture 3" descr="rankin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4204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setembro no MT (sazonalidade operacional)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Setembro no Centro-Oeste: final da seca, calor intenso, pico de queimadas e piora da qualidade do ar.</a:t>
            </a:r>
          </a:p>
          <a:p>
            <a:pPr>
              <a:defRPr sz="1400">
                <a:latin typeface="Calibri"/>
              </a:defRPr>
            </a:pPr>
            <a:r>
              <a:t>Contexto oficial JAS/2026: maior probabilidade de chuva abaixo da média no centro-norte e temperatura acima da normal — potencial de ondas de calor e queimadas. (INMET et al., 2026a) (INPE, 2026)</a:t>
            </a:r>
          </a:p>
          <a:p>
            <a:pPr>
              <a:defRPr sz="1400">
                <a:latin typeface="Calibri"/>
              </a:defRPr>
            </a:pPr>
            <a:r>
              <a:t>Indicadores atuais do SIS já apontam pressão térmica e SRAG concentrada em polos urbanos. (CIEVS-MT, 2026)</a:t>
            </a:r>
          </a:p>
          <a:p>
            <a:pPr>
              <a:defRPr sz="1400">
                <a:latin typeface="Calibri"/>
              </a:defRPr>
            </a:pPr>
            <a:r>
              <a:t>Queimadas × internações respiratórias: leitura de preparação estadual, não previsão de casos. (MATO GROSSO, [2024?])</a:t>
            </a:r>
          </a:p>
          <a:p>
            <a:pPr>
              <a:defRPr sz="1400">
                <a:latin typeface="Calibri"/>
              </a:defRPr>
            </a:pPr>
            <a:r>
              <a:t>Arboviroses: calor e irregularidade hídrica favoráveis ao vetor — monitorar via painel, sem extrapolar epidemia só do clima.</a:t>
            </a:r>
          </a:p>
          <a:p>
            <a:pPr>
              <a:defRPr sz="1400">
                <a:latin typeface="Calibri"/>
              </a:defRPr>
            </a:pPr>
            <a:r>
              <a:t>O SIS não ‘prevê setembro’: ele organiza vigilância contínua para o mês.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Projeções disponíveis agora (predição ~7 dias)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Projeção NUMÉRICA disponível agora: predicao_calor_7d_municipal_v6 (~7 dias). (CIEVS-MT, 2026)</a:t>
            </a:r>
          </a:p>
          <a:p>
            <a:pPr>
              <a:defRPr sz="1300"/>
            </a:pPr>
            <a:r>
              <a:t>Útil para a semana seguinte — não para ‘projetar setembro inteiro’.</a:t>
            </a:r>
          </a:p>
          <a:p>
            <a:pPr>
              <a:defRPr sz="1300"/>
            </a:pPr>
            <a:r>
              <a:t>Distribuição prevista: Verde 5, Amarela 16, Laranja 51, Vermelha 52, Roxa 18</a:t>
            </a:r>
          </a:p>
          <a:p>
            <a:pPr>
              <a:defRPr sz="1300"/>
            </a:pPr>
            <a:r>
              <a:t>Alta Floresta: ROXA · Tmax7d 34.2 °C</a:t>
            </a:r>
          </a:p>
          <a:p>
            <a:pPr>
              <a:defRPr sz="1300"/>
            </a:pPr>
            <a:r>
              <a:t>Aripuanã: ROXA · Tmax7d 34.1 °C</a:t>
            </a:r>
          </a:p>
          <a:p>
            <a:pPr>
              <a:defRPr sz="1300"/>
            </a:pPr>
            <a:r>
              <a:t>Sorriso: ROXA · Tmax7d 36.1 °C</a:t>
            </a:r>
          </a:p>
          <a:p>
            <a:pPr>
              <a:defRPr sz="1300"/>
            </a:pPr>
            <a:r>
              <a:t>Sinop: ROXA · Tmax7d 34.7 °C</a:t>
            </a:r>
          </a:p>
          <a:p>
            <a:pPr>
              <a:defRPr sz="1300"/>
            </a:pPr>
            <a:r>
              <a:t>Rondonópolis: ROXA · Tmax7d 34.7 °C</a:t>
            </a:r>
          </a:p>
          <a:p>
            <a:pPr>
              <a:defRPr sz="1300"/>
            </a:pPr>
            <a:r>
              <a:t>Rondolândia: ROXA · Tmax7d 34.5 °C</a:t>
            </a:r>
          </a:p>
        </p:txBody>
      </p:sp>
      <p:pic>
        <p:nvPicPr>
          <p:cNvPr id="4" name="Picture 3" descr="predicao_7d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Correlação clima–saúde (exploratória)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Tabela analise_clima_saude_correlacoes_v8 — Spearman municipal. (CIEVS-MT, 2026)</a:t>
            </a:r>
          </a:p>
          <a:p>
            <a:pPr>
              <a:defRPr sz="1300"/>
            </a:pPr>
            <a:r>
              <a:t>Pares calculados nesta base: 112.</a:t>
            </a:r>
          </a:p>
          <a:p>
            <a:pPr>
              <a:defRPr sz="1300"/>
            </a:pPr>
            <a:r>
              <a:t>Interpretação: associação ecológica; confundidores e defasagens não resolvidos aqui.</a:t>
            </a:r>
          </a:p>
          <a:p>
            <a:pPr>
              <a:defRPr sz="1300"/>
            </a:pPr>
            <a:r>
              <a:t>risco_cumulativo_3d → pressao_calor_pct: |ρ|=0.84 (n=142)</a:t>
            </a:r>
          </a:p>
          <a:p>
            <a:pPr>
              <a:defRPr sz="1300"/>
            </a:pPr>
            <a:r>
              <a:t>risco_calor_diario → pressao_calor_pct: |ρ|=0.79 (n=142)</a:t>
            </a:r>
          </a:p>
          <a:p>
            <a:pPr>
              <a:defRPr sz="1300"/>
            </a:pPr>
            <a:r>
              <a:t>utci_proxy → pressao_calor_pct: |ρ|=0.72 (n=142)</a:t>
            </a:r>
          </a:p>
          <a:p>
            <a:pPr>
              <a:defRPr sz="1300"/>
            </a:pPr>
            <a:r>
              <a:t>heat_index → pressao_calor_pct: |ρ|=0.68 (n=142)</a:t>
            </a:r>
          </a:p>
          <a:p>
            <a:pPr>
              <a:defRPr sz="1300"/>
            </a:pPr>
            <a:r>
              <a:t>o3_ugm3 → score: |ρ|=0.65 (n=12)</a:t>
            </a:r>
          </a:p>
          <a:p>
            <a:pPr>
              <a:defRPr sz="1300"/>
            </a:pPr>
            <a:r>
              <a:t>tmedia → pressao_calor_pct: |ρ|=0.64 (n=142)</a:t>
            </a:r>
          </a:p>
        </p:txBody>
      </p:sp>
      <p:pic>
        <p:nvPicPr>
          <p:cNvPr id="4" name="Picture 3" descr="correlacoe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Eixos de risco para set/2026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300"/>
            </a:pPr>
            <a:r>
              <a:t>Eixos que o painel deve vigiar em set/2026 (leitura operacional): (CIEVS-MT, 2026)</a:t>
            </a:r>
          </a:p>
          <a:p>
            <a:pPr>
              <a:defRPr sz="1300"/>
            </a:pPr>
            <a:r>
              <a:t>1) Calor — risco3d médio 8.3; onda P95: 5 mun.; acompanhar UTCI e ondas.</a:t>
            </a:r>
          </a:p>
          <a:p>
            <a:pPr>
              <a:defRPr sz="1300"/>
            </a:pPr>
            <a:r>
              <a:t>2) Qualidade do ar — PM2,5 em 12 mun. (cobertura parcial).</a:t>
            </a:r>
          </a:p>
          <a:p>
            <a:pPr>
              <a:defRPr sz="1300"/>
            </a:pPr>
            <a:r>
              <a:t>3) Arboviroses — ~198 casos/7d onde há dado (34 mun.).</a:t>
            </a:r>
          </a:p>
          <a:p>
            <a:pPr>
              <a:defRPr sz="1300"/>
            </a:pPr>
            <a:r>
              <a:t>4) SRAG — ~364 casos na base; polos: Cuiabá, Várzea Grande, Rondonópolis, Sinop</a:t>
            </a:r>
          </a:p>
          <a:p>
            <a:pPr>
              <a:defRPr sz="1300"/>
            </a:pPr>
            <a:r>
              <a:t>5) Hidrologia — Cemaden 2 reg.; ANA 11 mun.</a:t>
            </a:r>
          </a:p>
          <a:p>
            <a:pPr>
              <a:defRPr sz="1300"/>
            </a:pPr>
            <a:r>
              <a:t>Contexto sazonal (oficial): estiagem/queimadas no JAS — preparar resposta, não inventar magnitude. (INMET et al., 2026a)</a:t>
            </a:r>
          </a:p>
        </p:txBody>
      </p:sp>
      <p:pic>
        <p:nvPicPr>
          <p:cNvPr id="4" name="Picture 3" descr="srag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114800" cy="2226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Recomendações operacionais CIEVS / regionais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>
                <a:latin typeface="Calibri"/>
              </a:defRPr>
            </a:pPr>
            <a:r>
              <a:t>Saídas do módulo alerta_inteligente_municipal_v6: (CIEVS-MT, 2026)</a:t>
            </a:r>
          </a:p>
          <a:p>
            <a:pPr>
              <a:defRPr sz="1300">
                <a:latin typeface="Calibri"/>
              </a:defRPr>
            </a:pPr>
            <a:r>
              <a:t>Alerta inteligente: Verde 1, Amarela 13, Laranja 47, Vermelha 46, Roxa 35</a:t>
            </a:r>
          </a:p>
          <a:p>
            <a:pPr>
              <a:defRPr sz="1300">
                <a:latin typeface="Calibri"/>
              </a:defRPr>
            </a:pPr>
            <a:r>
              <a:t>47 municípios → Alerta — articular regional e assistência</a:t>
            </a:r>
          </a:p>
          <a:p>
            <a:pPr>
              <a:defRPr sz="1300">
                <a:latin typeface="Calibri"/>
              </a:defRPr>
            </a:pPr>
            <a:r>
              <a:t>46 municípios → Resposta intensificada — sala de situação</a:t>
            </a:r>
          </a:p>
          <a:p>
            <a:pPr>
              <a:defRPr sz="1300">
                <a:latin typeface="Calibri"/>
              </a:defRPr>
            </a:pPr>
            <a:r>
              <a:t>35 municípios → Situação excepcional — mobilização plena CIEVS</a:t>
            </a:r>
          </a:p>
          <a:p>
            <a:pPr>
              <a:defRPr sz="1300">
                <a:latin typeface="Calibri"/>
              </a:defRPr>
            </a:pPr>
            <a:r>
              <a:t>13 municípios → Atenção — reforçar vigilância climática e SRAG</a:t>
            </a:r>
          </a:p>
          <a:p>
            <a:pPr>
              <a:defRPr sz="1300">
                <a:latin typeface="Calibri"/>
              </a:defRPr>
            </a:pPr>
            <a:r>
              <a:t>1 municípios → Monitoramento de rotina</a:t>
            </a:r>
          </a:p>
          <a:p>
            <a:pPr>
              <a:defRPr sz="1300">
                <a:latin typeface="Calibri"/>
              </a:defRPr>
            </a:pPr>
            <a:r>
              <a:t>CIEVS/regionais: usar ranking + alerta para sala de situação e plantão.</a:t>
            </a:r>
          </a:p>
          <a:p>
            <a:pPr>
              <a:defRPr sz="1300">
                <a:latin typeface="Calibri"/>
              </a:defRPr>
            </a:pPr>
            <a:r>
              <a:t>Comunicar calor, ar e SRAG com base nos dados do dia — atualizar após cada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Lacunas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alibri"/>
              </a:defRPr>
            </a:pPr>
            <a:r>
              <a:t>IndicaSUS / ocupação de leitos: 0/142 nesta rodada (indisponível sem credenciais válidas) — painel usa proxy clima+saúde com ressalva.</a:t>
            </a:r>
          </a:p>
          <a:p>
            <a:pPr>
              <a:defRPr sz="1400">
                <a:latin typeface="Calibri"/>
              </a:defRPr>
            </a:pPr>
            <a:r>
              <a:t>Qualidade do ar: cobertura parcial (12 mun.) — não generalizar ao estado todo.</a:t>
            </a:r>
          </a:p>
          <a:p>
            <a:pPr>
              <a:defRPr sz="1400">
                <a:latin typeface="Calibri"/>
              </a:defRPr>
            </a:pPr>
            <a:r>
              <a:t>Não há modelo climático mensal (ECMWF/seasonal) no SIS — fora de escopo desta entrega.</a:t>
            </a:r>
          </a:p>
          <a:p>
            <a:pPr>
              <a:defRPr sz="1400">
                <a:latin typeface="Calibri"/>
              </a:defRPr>
            </a:pPr>
            <a:r>
              <a:t>Próximos passos: validar IndicaSUS; manter pipeline diário; regenerar slides após atualizar o banco.</a:t>
            </a:r>
          </a:p>
          <a:p>
            <a:pPr>
              <a:defRPr sz="1400">
                <a:latin typeface="Calibri"/>
              </a:defRPr>
            </a:pPr>
            <a:r>
              <a:t>Comando: python gerar_apresentacao_cenario_setembro.py</a:t>
            </a:r>
          </a:p>
          <a:p>
            <a:pPr>
              <a:defRPr sz="1400">
                <a:latin typeface="Calibri"/>
              </a:defRPr>
            </a:pPr>
            <a:r>
              <a:t>Referências oficiais (El Niño/JAS): docs/apresentacoes/REFERENCIAS_ABNT_6023.md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CIEVS-MT · SIS Integrado Clima-Saúde</a:t>
            </a:r>
          </a:p>
          <a:p>
            <a:r>
              <a:t>Cenário operacional setembro 2026</a:t>
            </a:r>
          </a:p>
          <a:p>
            <a:r>
              <a:t>Painel Streamlit · predicao 7d ≠ forecast mensal</a:t>
            </a:r>
          </a:p>
          <a:p>
            <a:r>
              <a:t>Extração 27/07/2026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</Words>
  <Application>Microsoft Office PowerPoint</Application>
  <PresentationFormat>Personalizar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Calibri</vt:lpstr>
      <vt:lpstr>Open Sans Ultra-Bold</vt:lpstr>
      <vt:lpstr>Uni Sans</vt:lpstr>
      <vt:lpstr>Open Sans Bold</vt:lpstr>
      <vt:lpstr>Open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Padrão</dc:title>
  <cp:lastModifiedBy>Robinson Borborema</cp:lastModifiedBy>
  <cp:revision>2</cp:revision>
  <dcterms:created xsi:type="dcterms:W3CDTF">2006-08-16T00:00:00Z</dcterms:created>
  <dcterms:modified xsi:type="dcterms:W3CDTF">2026-07-24T20:43:38Z</dcterms:modified>
  <dc:identifier>DAHMw4jdhZo</dc:identifier>
</cp:coreProperties>
</file>