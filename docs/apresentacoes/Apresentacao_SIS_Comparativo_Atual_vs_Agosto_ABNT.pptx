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Bold" pitchFamily="2" charset="0"/>
      <p:regular r:id="rId14"/>
      <p:bold r:id="rId15"/>
    </p:embeddedFont>
    <p:embeddedFont>
      <p:font typeface="Open Sans Ultra-Bold" panose="020B0604020202020204" charset="0"/>
      <p:regular r:id="rId16"/>
    </p:embeddedFont>
    <p:embeddedFont>
      <p:font typeface="Uni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5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 Clima-Saúde MT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Ferramenta de vigilância integrada + cenário operacional ago./2026</a:t>
            </a:r>
          </a:p>
          <a:p>
            <a:r>
              <a:t>CIEVS-MT · Dados reais do sistema · Fontes oficiais (ABNT NBR 6023)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 e limites (para não delirar)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Objetivo: apresentar o SIS como ferramenta de apoio à vigilância CIEVS e situar o cenário de início de agosto.</a:t>
            </a:r>
          </a:p>
          <a:p>
            <a:pPr>
              <a:defRPr sz="1500">
                <a:latin typeface="Calibri"/>
              </a:defRPr>
            </a:pPr>
            <a:r>
              <a:t>O SIS NÃO substitui a previsão climática oficial do INMET/CPTEC/INPE.</a:t>
            </a:r>
          </a:p>
          <a:p>
            <a:pPr>
              <a:defRPr sz="1500">
                <a:latin typeface="Calibri"/>
              </a:defRPr>
            </a:pPr>
            <a:r>
              <a:t>Predição numérica do SIS: horizonte ~7 dias (Open-Meteo) — não é forecast mensal. (CIEVS-MT, 2026) (OPEN-METEO, 2026)</a:t>
            </a:r>
          </a:p>
          <a:p>
            <a:pPr>
              <a:defRPr sz="1500">
                <a:latin typeface="Calibri"/>
              </a:defRPr>
            </a:pPr>
            <a:r>
              <a:t>Cenário sazonal (chuva/temperatura no trimestre) vem do Painel El Niño. (INMET et al., 2026a)</a:t>
            </a:r>
          </a:p>
          <a:p>
            <a:pPr>
              <a:defRPr sz="1500">
                <a:latin typeface="Calibri"/>
              </a:defRPr>
            </a:pPr>
            <a:r>
              <a:t>Correlações clima–saúde são ecológicas/exploratórias — não causalidade individual. (CIEVS-MT, 2026)</a:t>
            </a:r>
          </a:p>
          <a:p>
            <a:pPr>
              <a:defRPr sz="1500">
                <a:latin typeface="Calibri"/>
              </a:defRPr>
            </a:pPr>
            <a:r>
              <a:t>Números municipais desta apresentação foram extraídos do PostgreSQL do SIS em 27/07/2026.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SIS Clima-Saúde 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Sistema Integrado de Monitoramento Clima–Saúde do CIEVS-MT (painel Streamlit + pipeline Python).</a:t>
            </a:r>
          </a:p>
          <a:p>
            <a:pPr>
              <a:defRPr sz="1500">
                <a:latin typeface="Calibri"/>
              </a:defRPr>
            </a:pPr>
            <a:r>
              <a:t>Objetivo operacional: consolidar sinais climáticos, ambientais e de saúde em nível municipal para sala de situação.</a:t>
            </a:r>
          </a:p>
          <a:p>
            <a:pPr>
              <a:defRPr sz="1500">
                <a:latin typeface="Calibri"/>
              </a:defRPr>
            </a:pPr>
            <a:r>
              <a:t>Produto principal: nível operacional (Verde → Roxa), score, mapas, ranqueamento e recomendações por município.</a:t>
            </a:r>
          </a:p>
          <a:p>
            <a:pPr>
              <a:defRPr sz="1500">
                <a:latin typeface="Calibri"/>
              </a:defRPr>
            </a:pPr>
            <a:r>
              <a:t>Backend atual: PostgreSQL · cobertura: 142 municípios de MT · última pipeline: 2026-07-27T08:36:59 · success · Nível roxa. (CIEVS-MT, 2026)</a:t>
            </a:r>
          </a:p>
          <a:p>
            <a:pPr>
              <a:defRPr sz="1500">
                <a:latin typeface="Calibri"/>
              </a:defRPr>
            </a:pPr>
            <a:r>
              <a:t>Público: plantão CIEVS, vigilância estadual/regional e comunicação técnica — não prognóstico agroclimático.</a:t>
            </a:r>
          </a:p>
          <a:p>
            <a:pPr>
              <a:defRPr sz="1500">
                <a:latin typeface="Calibri"/>
              </a:defRPr>
            </a:pPr>
            <a:r>
              <a:t>Princípio: transparência de fontes e lacunas (ex.: IndicaSUS/ocupação de leitos indisponível nesta rodada).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a ferramenta está organizada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Interface: navegação horizontal por blocos (sem menu lateral).</a:t>
            </a:r>
          </a:p>
          <a:p>
            <a:pPr>
              <a:defRPr sz="1300"/>
            </a:pPr>
            <a:r>
              <a:t>Situação → visão executiva e mapas municipais (shapefile IBGE).</a:t>
            </a:r>
          </a:p>
          <a:p>
            <a:pPr>
              <a:defRPr sz="1300"/>
            </a:pPr>
            <a:r>
              <a:t>Clima → TITAN/biometeo, ondas de calor, qualidade do ar.</a:t>
            </a:r>
          </a:p>
          <a:p>
            <a:pPr>
              <a:defRPr sz="1300"/>
            </a:pPr>
            <a:r>
              <a:t>Saúde → assistência, arboviroses, SIVEP/SRAG, Sentinela SG, GeoCalor, correlação.</a:t>
            </a:r>
          </a:p>
          <a:p>
            <a:pPr>
              <a:defRPr sz="1300"/>
            </a:pPr>
            <a:r>
              <a:t>Hidrologia → Cemaden e ANA.</a:t>
            </a:r>
          </a:p>
          <a:p>
            <a:pPr>
              <a:defRPr sz="1300"/>
            </a:pPr>
            <a:r>
              <a:t>Operação → operacional, geografia, inteligência, alertas.</a:t>
            </a:r>
          </a:p>
          <a:p>
            <a:pPr>
              <a:defRPr sz="1300"/>
            </a:pPr>
            <a:r>
              <a:t>Método → documentação dos cálculos e limiares.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200"/>
            </a:pPr>
            <a:r>
              <a:t>Pipeline diário grava resumo_municipal_atual.</a:t>
            </a:r>
          </a:p>
          <a:p>
            <a:pPr>
              <a:defRPr sz="1200"/>
            </a:pPr>
            <a:r>
              <a:t>Módulos de enriquecimento: predição 7d, alerta inteligente, correlação Spearman.</a:t>
            </a:r>
          </a:p>
          <a:p>
            <a:pPr>
              <a:defRPr sz="1200"/>
            </a:pPr>
            <a:r>
              <a:t>Filtros globais: regional de saúde e município.</a:t>
            </a:r>
          </a:p>
          <a:p>
            <a:pPr>
              <a:defRPr sz="1200"/>
            </a:pPr>
            <a:r>
              <a:t>Mapas: coroplético por nível/indicador ou pontos se geojson falhar.</a:t>
            </a:r>
          </a:p>
          <a:p>
            <a:pPr>
              <a:defRPr sz="1200"/>
            </a:pPr>
            <a:r>
              <a:t>Alertas por mudança de nível: configuráveis (podem ficar bloqueados por política).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Fontes de dados e cobertura nesta extração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Calibri"/>
              </a:defRPr>
            </a:pPr>
            <a:r>
              <a:t>Clima/biometeo: Open-Meteo → met_biometeo / resumo (tmax em 142/142 mun.). (OPEN-METEO, 2026)</a:t>
            </a:r>
          </a:p>
          <a:p>
            <a:pPr>
              <a:defRPr sz="1300">
                <a:latin typeface="Calibri"/>
              </a:defRPr>
            </a:pPr>
            <a:r>
              <a:t>SRAG/SIVEP local: casos_srag em 142/142 mun. (total ~364 casos na base). (CIEVS-MT, 2026)</a:t>
            </a:r>
          </a:p>
          <a:p>
            <a:pPr>
              <a:defRPr sz="1300">
                <a:latin typeface="Calibri"/>
              </a:defRPr>
            </a:pPr>
            <a:r>
              <a:t>Qualidade do ar (PM2,5): 12/142 mun. com valor — cobertura parcial. (CIEVS-MT, 2026)</a:t>
            </a:r>
          </a:p>
          <a:p>
            <a:pPr>
              <a:defRPr sz="1300">
                <a:latin typeface="Calibri"/>
              </a:defRPr>
            </a:pPr>
            <a:r>
              <a:t>Arboviroses (casos 7d): 34/142 mun. com valor · soma ~198. (CIEVS-MT, 2026)</a:t>
            </a:r>
          </a:p>
          <a:p>
            <a:pPr>
              <a:defRPr sz="1300">
                <a:latin typeface="Calibri"/>
              </a:defRPr>
            </a:pPr>
            <a:r>
              <a:t>Pressão por calor (proxy): 142/142 · ocupação de leitos IndicaSUS: 0/142 (0 = indisponível nesta rodada).</a:t>
            </a:r>
          </a:p>
          <a:p>
            <a:pPr>
              <a:defRPr sz="1300">
                <a:latin typeface="Calibri"/>
              </a:defRPr>
            </a:pPr>
            <a:r>
              <a:t>Hidro: Cemaden 2 registro(s) · ANA risco 11 mun. (CIEVS-MT, 2026)</a:t>
            </a:r>
          </a:p>
          <a:p>
            <a:pPr>
              <a:defRPr sz="1300">
                <a:latin typeface="Calibri"/>
              </a:defRPr>
            </a:pPr>
            <a:r>
              <a:t>Shapefile municipal IBGE para mapas; população municipal para incidência quando disponível.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Niño 2026 — fontes oficiais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NOAA: El Niño Advisory (9 jul. 2026); fenômeno presente e previsto a fortalecer. (NOAA, 2026)</a:t>
            </a:r>
          </a:p>
          <a:p>
            <a:pPr>
              <a:defRPr sz="1500">
                <a:latin typeface="Calibri"/>
              </a:defRPr>
            </a:pPr>
            <a:r>
              <a:t>IRI (jul./2026): intensificação; Niño 3.4 semanal ~+2,1 °C; alta probabilidade até início de 2027. (IRI, 2026)</a:t>
            </a:r>
          </a:p>
          <a:p>
            <a:pPr>
              <a:defRPr sz="1500">
                <a:latin typeface="Calibri"/>
              </a:defRPr>
            </a:pPr>
            <a:r>
              <a:t>Painel El Niño BR: confirmado em jun./2026; &gt;90% de permanência até início de 2027; risco de evento muito forte (TSM &gt;2 °C) na primavera–verão 2026. (INMET et al., 2026a) (INMET, 2026)</a:t>
            </a:r>
          </a:p>
          <a:p>
            <a:pPr>
              <a:defRPr sz="1500">
                <a:latin typeface="Calibri"/>
              </a:defRPr>
            </a:pPr>
            <a:r>
              <a:t>Leitura cautelosa: o forçante oceânico favorece calor/anomalias de chuva — a resposta local no MT é monitorada município a município pelo SIS, não pressuposta.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Prognóstico sazonal JAS/2026 (INMET–CPTEC–FUNCEME)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Jul.–ago.–set./2026: maior probabilidade de chuva abaixo da média no centro-norte do Brasil. (INMET et al., 2026a)</a:t>
            </a:r>
          </a:p>
          <a:p>
            <a:pPr>
              <a:defRPr sz="1500">
                <a:latin typeface="Calibri"/>
              </a:defRPr>
            </a:pPr>
            <a:r>
              <a:t>Temperatura: maior probabilidade acima da normal — potencial de ondas de calor na faixa central. (INMET et al., 2026a)</a:t>
            </a:r>
          </a:p>
          <a:p>
            <a:pPr>
              <a:defRPr sz="1500">
                <a:latin typeface="Calibri"/>
              </a:defRPr>
            </a:pPr>
            <a:r>
              <a:t>Calor + estiagem → potencial elevado de queimadas no Centro-Oeste/Norte/Nordeste. (INMET et al., 2026a) (INPE, 2026)</a:t>
            </a:r>
          </a:p>
          <a:p>
            <a:pPr>
              <a:defRPr sz="1500">
                <a:latin typeface="Calibri"/>
              </a:defRPr>
            </a:pPr>
            <a:r>
              <a:t>Implicação MT: reforçar vigilância de estiagem, calor, qualidade do ar e vetores — sem afirmar magnitude exata por município só com o ENSO.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Comparativo real: 27/07 × 01/08/2026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Fonte: Open-Meteo em met_biometeo (142 mun.). (CIEVS-MT, 2026) (OPEN-METEO, 2026)</a:t>
            </a:r>
          </a:p>
          <a:p>
            <a:pPr>
              <a:defRPr sz="1300"/>
            </a:pPr>
            <a:r>
              <a:t>27/07 → Tmax méd. 33.61 °C (máx. 37.1) · UR 55.7% · risco3d 5.70.</a:t>
            </a:r>
          </a:p>
          <a:p>
            <a:pPr>
              <a:defRPr sz="1300"/>
            </a:pPr>
            <a:r>
              <a:t>01/08 → Tmax méd. 34.34 °C (máx. 37.5) · UR 44.5% · risco3d 10.13.</a:t>
            </a:r>
          </a:p>
          <a:p>
            <a:pPr>
              <a:defRPr sz="1300"/>
            </a:pPr>
            <a:r>
              <a:t>Δ → Tmax +0.73 °C · UR -11.2 p.p. · risco3d +4.44.</a:t>
            </a:r>
          </a:p>
          <a:p>
            <a:pPr>
              <a:defRPr sz="1300"/>
            </a:pPr>
            <a:r>
              <a:t>02/08 → Tmax 32.35 °C · UR 53.3% · chuva 1.60 mm.</a:t>
            </a:r>
          </a:p>
          <a:p>
            <a:pPr>
              <a:defRPr sz="1300"/>
            </a:pPr>
            <a:r>
              <a:t>Leitura: umidade cai e risco térmico acumulado sobe até 01/08 — horizonte curto, não agosto inteiro.</a:t>
            </a:r>
          </a:p>
        </p:txBody>
      </p:sp>
      <p:pic>
        <p:nvPicPr>
          <p:cNvPr id="4" name="Picture 3" descr="comparativo_atual_vs_01a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1563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Horizonte curto (SIS) — temperatura e umidade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Série estadual no horizonte disponível no SIS (até ~02/08). (OPEN-METEO, 2026)</a:t>
            </a:r>
          </a:p>
          <a:p>
            <a:pPr>
              <a:defRPr sz="1300"/>
            </a:pPr>
            <a:r>
              <a:t>2026-07-27: Tmax ~33.6 °C, UR 56%, chuva 0.05 mm</a:t>
            </a:r>
          </a:p>
          <a:p>
            <a:pPr>
              <a:defRPr sz="1300"/>
            </a:pPr>
            <a:r>
              <a:t>2026-07-28: Tmax ~33.9 °C, UR 55%, chuva 0.15 mm</a:t>
            </a:r>
          </a:p>
          <a:p>
            <a:pPr>
              <a:defRPr sz="1300"/>
            </a:pPr>
            <a:r>
              <a:t>2026-07-29: Tmax ~33.7 °C, UR 59%, chuva 0.19 mm</a:t>
            </a:r>
          </a:p>
          <a:p>
            <a:pPr>
              <a:defRPr sz="1300"/>
            </a:pPr>
            <a:r>
              <a:t>2026-07-30: Tmax ~34.1 °C, UR 57%, chuva 0.37 mm</a:t>
            </a:r>
          </a:p>
          <a:p>
            <a:pPr>
              <a:defRPr sz="1300"/>
            </a:pPr>
            <a:r>
              <a:t>2026-07-31: Tmax ~34.6 °C, UR 49%, chuva 0.00 mm</a:t>
            </a:r>
          </a:p>
          <a:p>
            <a:pPr>
              <a:defRPr sz="1300"/>
            </a:pPr>
            <a:r>
              <a:t>2026-08-01: Tmax ~34.3 °C, UR 45%, chuva 0.05 mm</a:t>
            </a:r>
          </a:p>
          <a:p>
            <a:pPr>
              <a:defRPr sz="1300"/>
            </a:pPr>
            <a:r>
              <a:t>2026-08-02: Tmax ~32.4 °C, UR 53%, chuva 1.60 mm</a:t>
            </a:r>
          </a:p>
        </p:txBody>
      </p:sp>
      <p:pic>
        <p:nvPicPr>
          <p:cNvPr id="4" name="Picture 3" descr="horizonte_curto_tmax_um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operacional do SIS (hoje)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Municípios: 142 · Verde 4, Amarela 21, Laranja 67, Vermelha 34, Roxa 16. (CIEVS-MT, 2026)</a:t>
            </a:r>
          </a:p>
          <a:p>
            <a:pPr>
              <a:defRPr sz="1300"/>
            </a:pPr>
            <a:r>
              <a:t>Sentinela/mais crítico nesta rodada: Rondolândia (ROXA).</a:t>
            </a:r>
          </a:p>
          <a:p>
            <a:pPr>
              <a:defRPr sz="1300"/>
            </a:pPr>
            <a:r>
              <a:t>Tmax máx.: 36.4 °C · UR média: 53% · precipitação méd.: 1.60 mm</a:t>
            </a:r>
          </a:p>
          <a:p>
            <a:pPr>
              <a:defRPr sz="1300"/>
            </a:pPr>
            <a:r>
              <a:t>UTCI méd.: 31.2 · risco cumulativo 3d méd.: 8.3 · pressão calor méd.: 3.9%</a:t>
            </a:r>
          </a:p>
          <a:p>
            <a:pPr>
              <a:defRPr sz="1300"/>
            </a:pPr>
            <a:r>
              <a:t>Municípios em onda de calor (P95≥2d): 5.</a:t>
            </a:r>
          </a:p>
          <a:p>
            <a:pPr>
              <a:defRPr sz="1300"/>
            </a:pPr>
            <a:r>
              <a:t>Última pipeline: 2026-07-27T08:36:59 · success · Nível roxa.</a:t>
            </a:r>
          </a:p>
          <a:p>
            <a:pPr>
              <a:defRPr sz="1300"/>
            </a:pPr>
            <a:r>
              <a:t>Pressão assistencial: proxy clima+saúde quando IndicaSUS indisponível.</a:t>
            </a:r>
          </a:p>
        </p:txBody>
      </p:sp>
      <p:pic>
        <p:nvPicPr>
          <p:cNvPr id="4" name="Picture 3" descr="distribuicao_nive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Calor e estresse térmico (output do 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Calibri"/>
              </a:defRPr>
            </a:pPr>
            <a:r>
              <a:t>Módulo biometeo do SIS: Tmax/Tmin, UTCI proxy, heat index, risco diário e cumulativo 3d, onda P95. (CIEVS-MT, 2026)</a:t>
            </a:r>
          </a:p>
          <a:p>
            <a:pPr>
              <a:defRPr sz="1300">
                <a:latin typeface="Calibri"/>
              </a:defRPr>
            </a:pPr>
            <a:r>
              <a:t>Risco cumulativo 3d — média 8.3 · máx. 18.8.</a:t>
            </a:r>
          </a:p>
          <a:p>
            <a:pPr>
              <a:defRPr sz="1300">
                <a:latin typeface="Calibri"/>
              </a:defRPr>
            </a:pPr>
            <a:r>
              <a:t>Em onda de calor (critério P95 2d): 5 município(s).</a:t>
            </a:r>
          </a:p>
          <a:p>
            <a:pPr>
              <a:defRPr sz="1300">
                <a:latin typeface="Calibri"/>
              </a:defRPr>
            </a:pPr>
            <a:r>
              <a:t>Uso: identificar estresse térmico acumulado e priorizar comunicação de calor.</a:t>
            </a:r>
          </a:p>
          <a:p>
            <a:pPr>
              <a:defRPr sz="1300">
                <a:latin typeface="Calibri"/>
              </a:defRPr>
            </a:pPr>
            <a:r>
              <a:t>Rondolândia: risco3d 18.76711169484623 · UTCI 32.1 · ROXA</a:t>
            </a:r>
          </a:p>
          <a:p>
            <a:pPr>
              <a:defRPr sz="1300">
                <a:latin typeface="Calibri"/>
              </a:defRPr>
            </a:pPr>
            <a:r>
              <a:t>Colniza: risco3d 18.662977849636704 · UTCI 33.440000000000005 · ROXA</a:t>
            </a:r>
          </a:p>
          <a:p>
            <a:pPr>
              <a:defRPr sz="1300">
                <a:latin typeface="Calibri"/>
              </a:defRPr>
            </a:pPr>
            <a:r>
              <a:t>Brasnorte: risco3d 12.599302732155625 · UTCI 32.52 · ROXA</a:t>
            </a:r>
          </a:p>
          <a:p>
            <a:pPr>
              <a:defRPr sz="1300">
                <a:latin typeface="Calibri"/>
              </a:defRPr>
            </a:pPr>
            <a:r>
              <a:t>Colíder: risco3d 12.575914468137785 · UTCI 33.50000000000001 · ROXA</a:t>
            </a:r>
          </a:p>
          <a:p>
            <a:pPr>
              <a:defRPr sz="1300">
                <a:latin typeface="Calibri"/>
              </a:defRPr>
            </a:pPr>
            <a:r>
              <a:t>Barra do Bugres: risco3d 11.630045887463947 · UTCI 30.160000000000004 · ROXA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Saúde — SRAG na ferramenta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Casos SRAG somados na base municipal: ~364 · cobertura 142/142. (CIEVS-MT, 2026)</a:t>
            </a:r>
          </a:p>
          <a:p>
            <a:pPr>
              <a:defRPr sz="1300"/>
            </a:pPr>
            <a:r>
              <a:t>Indicadores: casos, incidência/100 mil, z-score, UTI, óbitos (quando preenchidos).</a:t>
            </a:r>
          </a:p>
          <a:p>
            <a:pPr>
              <a:defRPr sz="1300"/>
            </a:pPr>
            <a:r>
              <a:t>Z-score SRAG disponível em poucos municípios nesta rodada — interpretar com cautela.</a:t>
            </a:r>
          </a:p>
          <a:p>
            <a:pPr>
              <a:defRPr sz="1300"/>
            </a:pPr>
            <a:r>
              <a:t>Cuiabá: 53 casos · inc. 7.7/100k · ROXA</a:t>
            </a:r>
          </a:p>
          <a:p>
            <a:pPr>
              <a:defRPr sz="1300"/>
            </a:pPr>
            <a:r>
              <a:t>Várzea Grande: 39 casos · inc. 12.2/100k · VERMELHA</a:t>
            </a:r>
          </a:p>
          <a:p>
            <a:pPr>
              <a:defRPr sz="1300"/>
            </a:pPr>
            <a:r>
              <a:t>Rondonópolis: 38 casos · inc. 14.4/100k · VERMELHA</a:t>
            </a:r>
          </a:p>
          <a:p>
            <a:pPr>
              <a:defRPr sz="1300"/>
            </a:pPr>
            <a:r>
              <a:t>Sinop: 34 casos · inc. 15.2/100k · VERMELHA</a:t>
            </a:r>
          </a:p>
          <a:p>
            <a:pPr>
              <a:defRPr sz="1300"/>
            </a:pPr>
            <a:r>
              <a:t>Cáceres: 31 casos · inc. 33.8/100k · VERMELHA</a:t>
            </a:r>
          </a:p>
          <a:p>
            <a:pPr>
              <a:defRPr sz="1300"/>
            </a:pPr>
            <a:r>
              <a:t>Nova Mutum: 30 casos · inc. 47.3/100k · ROXA</a:t>
            </a:r>
          </a:p>
        </p:txBody>
      </p:sp>
      <p:pic>
        <p:nvPicPr>
          <p:cNvPr id="4" name="Picture 3" descr="srag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3236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Qualidade do ar (módulo do 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PM2,5/PM10/O3 disponíveis em 12 municípios nesta extração. (CIEVS-MT, 2026)</a:t>
            </a:r>
          </a:p>
          <a:p>
            <a:pPr>
              <a:defRPr sz="1300"/>
            </a:pPr>
            <a:r>
              <a:t>Cobertura parcial: útil para polos urbanos/monitorados — não generalizar para todo o estado.</a:t>
            </a:r>
          </a:p>
          <a:p>
            <a:pPr>
              <a:defRPr sz="1300"/>
            </a:pPr>
            <a:r>
              <a:t>No contexto El Niño/estiagem: qualidade do ar é indicador-sentinela para queimadas. (INMET et al., 2026a)</a:t>
            </a:r>
          </a:p>
          <a:p>
            <a:pPr>
              <a:defRPr sz="1300"/>
            </a:pPr>
            <a:r>
              <a:t>Várzea Grande: PM2,5 42.7 · PM10 78.5 · O3 149.5</a:t>
            </a:r>
          </a:p>
          <a:p>
            <a:pPr>
              <a:defRPr sz="1300"/>
            </a:pPr>
            <a:r>
              <a:t>Cuiabá: PM2,5 40.3 · PM10 73.4 · O3 132.4</a:t>
            </a:r>
          </a:p>
          <a:p>
            <a:pPr>
              <a:defRPr sz="1300"/>
            </a:pPr>
            <a:r>
              <a:t>Alta Floresta: PM2,5 38.3 · PM10 72.9 · O3 152.0</a:t>
            </a:r>
          </a:p>
          <a:p>
            <a:pPr>
              <a:defRPr sz="1300"/>
            </a:pPr>
            <a:r>
              <a:t>Cáceres: PM2,5 31.7 · PM10 73.2 · O3 139.4</a:t>
            </a:r>
          </a:p>
          <a:p>
            <a:pPr>
              <a:defRPr sz="1300"/>
            </a:pPr>
            <a:r>
              <a:t>Tangará da Serra: PM2,5 31.7 · PM10 85.1 · O3 134.6</a:t>
            </a:r>
          </a:p>
          <a:p>
            <a:pPr>
              <a:defRPr sz="1300"/>
            </a:pPr>
            <a:r>
              <a:t>Sorriso: PM2,5 31.6 · PM10 82.0 · O3 147.3</a:t>
            </a:r>
          </a:p>
        </p:txBody>
      </p:sp>
      <p:pic>
        <p:nvPicPr>
          <p:cNvPr id="4" name="Picture 3" descr="ar_pm2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3236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Arboviroses no 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Calibri"/>
              </a:defRPr>
            </a:pPr>
            <a:r>
              <a:t>Casos arbovírus (janela 7d) somados onde há dado: ~198 · mun. com valor: 34. (CIEVS-MT, 2026)</a:t>
            </a:r>
          </a:p>
          <a:p>
            <a:pPr>
              <a:defRPr sz="1300">
                <a:latin typeface="Calibri"/>
              </a:defRPr>
            </a:pPr>
            <a:r>
              <a:t>O SIS acompanha incidência/z-score quando a base local está carregada — não projeta epidemia só pelo ENSO.</a:t>
            </a:r>
          </a:p>
          <a:p>
            <a:pPr>
              <a:defRPr sz="1300">
                <a:latin typeface="Calibri"/>
              </a:defRPr>
            </a:pPr>
            <a:r>
              <a:t>Sinop: 52 casos/7d · VERMELHA</a:t>
            </a:r>
          </a:p>
          <a:p>
            <a:pPr>
              <a:defRPr sz="1300">
                <a:latin typeface="Calibri"/>
              </a:defRPr>
            </a:pPr>
            <a:r>
              <a:t>Lucas do Rio Verde: 33 casos/7d · VERMELHA</a:t>
            </a:r>
          </a:p>
          <a:p>
            <a:pPr>
              <a:defRPr sz="1300">
                <a:latin typeface="Calibri"/>
              </a:defRPr>
            </a:pPr>
            <a:r>
              <a:t>Várzea Grande: 30 casos/7d · VERMELHA</a:t>
            </a:r>
          </a:p>
          <a:p>
            <a:pPr>
              <a:defRPr sz="1300">
                <a:latin typeface="Calibri"/>
              </a:defRPr>
            </a:pPr>
            <a:r>
              <a:t>Barra do Garças: 8 casos/7d · ROXA</a:t>
            </a:r>
          </a:p>
          <a:p>
            <a:pPr>
              <a:defRPr sz="1300">
                <a:latin typeface="Calibri"/>
              </a:defRPr>
            </a:pPr>
            <a:r>
              <a:t>Campo Verde: 8 casos/7d · ROXA</a:t>
            </a:r>
          </a:p>
          <a:p>
            <a:pPr>
              <a:defRPr sz="1300">
                <a:latin typeface="Calibri"/>
              </a:defRPr>
            </a:pPr>
            <a:r>
              <a:t>Cáceres: 7 casos/7d · VERMELHA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Priorização municipal (score)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Municípios com maior score (priorização CIEVS): (CIEVS-MT, 2026)</a:t>
            </a:r>
          </a:p>
          <a:p>
            <a:pPr>
              <a:defRPr sz="1300"/>
            </a:pPr>
            <a:r>
              <a:t>Rondolândia — ROXA · score 4 · risco3d 18.76711169484623</a:t>
            </a:r>
          </a:p>
          <a:p>
            <a:pPr>
              <a:defRPr sz="1300"/>
            </a:pPr>
            <a:r>
              <a:t>Colniza — ROXA · score 4 · risco3d 18.662977849636704</a:t>
            </a:r>
          </a:p>
          <a:p>
            <a:pPr>
              <a:defRPr sz="1300"/>
            </a:pPr>
            <a:r>
              <a:t>Brasnorte — ROXA · score 4 · risco3d 12.599302732155625</a:t>
            </a:r>
          </a:p>
          <a:p>
            <a:pPr>
              <a:defRPr sz="1300"/>
            </a:pPr>
            <a:r>
              <a:t>Colíder — ROXA · score 4 · risco3d 12.575914468137785</a:t>
            </a:r>
          </a:p>
          <a:p>
            <a:pPr>
              <a:defRPr sz="1300"/>
            </a:pPr>
            <a:r>
              <a:t>Barra do Bugres — ROXA · score 4 · risco3d 11.630045887463947</a:t>
            </a:r>
          </a:p>
          <a:p>
            <a:pPr>
              <a:defRPr sz="1300"/>
            </a:pPr>
            <a:r>
              <a:t>Cuiabá — ROXA · score 4 · risco3d 10.741237529559433</a:t>
            </a:r>
          </a:p>
          <a:p>
            <a:pPr>
              <a:defRPr sz="1300"/>
            </a:pPr>
            <a:r>
              <a:t>Nova Ubiratã — ROXA · score 4 · risco3d 9.8972223821845</a:t>
            </a:r>
          </a:p>
          <a:p>
            <a:pPr>
              <a:defRPr sz="1300"/>
            </a:pPr>
            <a:r>
              <a:t>Campinápolis — ROXA · score 4 · risco3d 9.171017233488948</a:t>
            </a:r>
          </a:p>
        </p:txBody>
      </p:sp>
      <p:pic>
        <p:nvPicPr>
          <p:cNvPr id="4" name="Picture 3" descr="rankin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4204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Predição ~7 dias (o que a ferramenta entrega)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Módulo predicao_calor_7d: horizonte operacional da semana — não sazonal. (CIEVS-MT, 2026)</a:t>
            </a:r>
          </a:p>
          <a:p>
            <a:pPr>
              <a:defRPr sz="1300"/>
            </a:pPr>
            <a:r>
              <a:t>Distribuição: Verde 5, Amarela 16, Laranja 51, Vermelha 52, Roxa 18</a:t>
            </a:r>
          </a:p>
          <a:p>
            <a:pPr>
              <a:defRPr sz="1300"/>
            </a:pPr>
            <a:r>
              <a:t>Alta Floresta: ROXA · Tmax7d 34.2 °C</a:t>
            </a:r>
          </a:p>
          <a:p>
            <a:pPr>
              <a:defRPr sz="1300"/>
            </a:pPr>
            <a:r>
              <a:t>Aripuanã: ROXA · Tmax7d 34.1 °C</a:t>
            </a:r>
          </a:p>
          <a:p>
            <a:pPr>
              <a:defRPr sz="1300"/>
            </a:pPr>
            <a:r>
              <a:t>Sorriso: ROXA · Tmax7d 36.1 °C</a:t>
            </a:r>
          </a:p>
          <a:p>
            <a:pPr>
              <a:defRPr sz="1300"/>
            </a:pPr>
            <a:r>
              <a:t>Sinop: ROXA · Tmax7d 34.7 °C</a:t>
            </a:r>
          </a:p>
          <a:p>
            <a:pPr>
              <a:defRPr sz="1300"/>
            </a:pPr>
            <a:r>
              <a:t>Rondonópolis: ROXA · Tmax7d 34.7 °C</a:t>
            </a:r>
          </a:p>
          <a:p>
            <a:pPr>
              <a:defRPr sz="1300"/>
            </a:pPr>
            <a:r>
              <a:t>Rondolândia: ROXA · Tmax7d 34.5 °C</a:t>
            </a:r>
          </a:p>
          <a:p>
            <a:pPr>
              <a:defRPr sz="1300"/>
            </a:pPr>
            <a:r>
              <a:t>Sazonalidade ago.–set.: Painel El Niño / INMET–CPTEC — não este módulo.</a:t>
            </a:r>
          </a:p>
        </p:txBody>
      </p:sp>
      <p:pic>
        <p:nvPicPr>
          <p:cNvPr id="4" name="Picture 3" descr="predicao_7d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 inteligente e recomendações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Alerta inteligente combina nível atual, predição, SRAG, ar e pressão térmica. (CIEVS-MT, 2026)</a:t>
            </a:r>
          </a:p>
          <a:p>
            <a:pPr>
              <a:defRPr sz="1300"/>
            </a:pPr>
            <a:r>
              <a:t>Distribuição: Verde 1, Amarela 13, Laranja 47, Vermelha 46, Roxa 35</a:t>
            </a:r>
          </a:p>
          <a:p>
            <a:pPr>
              <a:defRPr sz="1300"/>
            </a:pPr>
            <a:r>
              <a:t>47 mun. → Alerta — articular regional e assistência</a:t>
            </a:r>
          </a:p>
          <a:p>
            <a:pPr>
              <a:defRPr sz="1300"/>
            </a:pPr>
            <a:r>
              <a:t>46 mun. → Resposta intensificada — sala de situação</a:t>
            </a:r>
          </a:p>
          <a:p>
            <a:pPr>
              <a:defRPr sz="1300"/>
            </a:pPr>
            <a:r>
              <a:t>35 mun. → Situação excepcional — mobilização plena CIEVS</a:t>
            </a:r>
          </a:p>
          <a:p>
            <a:pPr>
              <a:defRPr sz="1300"/>
            </a:pPr>
            <a:r>
              <a:t>13 mun. → Atenção — reforçar vigilância climática e SRAG</a:t>
            </a:r>
          </a:p>
          <a:p>
            <a:pPr>
              <a:defRPr sz="1300"/>
            </a:pPr>
            <a:r>
              <a:t>1 mun. → Monitoramento de rotina</a:t>
            </a:r>
          </a:p>
        </p:txBody>
      </p:sp>
      <p:pic>
        <p:nvPicPr>
          <p:cNvPr id="4" name="Picture 3" descr="alerta_inteligent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Regionais críticas e hidrologia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Agregação por regional de saúde (municípios em vermelha/roxa no alerta inteligente): (CIEVS-MT, 2026)</a:t>
            </a:r>
          </a:p>
          <a:p>
            <a:pPr>
              <a:defRPr sz="1300"/>
            </a:pPr>
            <a:r>
              <a:t>Cuiabá: 12 mun. críticos</a:t>
            </a:r>
          </a:p>
          <a:p>
            <a:pPr>
              <a:defRPr sz="1300"/>
            </a:pPr>
            <a:r>
              <a:t>Confresa - Vila Rica: 7 mun. críticos</a:t>
            </a:r>
          </a:p>
          <a:p>
            <a:pPr>
              <a:defRPr sz="1300"/>
            </a:pPr>
            <a:r>
              <a:t>Água Boa: 6 mun. críticos</a:t>
            </a:r>
          </a:p>
          <a:p>
            <a:pPr>
              <a:defRPr sz="1300"/>
            </a:pPr>
            <a:r>
              <a:t>Sorriso: 6 mun. críticos</a:t>
            </a:r>
          </a:p>
          <a:p>
            <a:pPr>
              <a:defRPr sz="1300"/>
            </a:pPr>
            <a:r>
              <a:t>Juína: 6 mun. críticos</a:t>
            </a:r>
          </a:p>
          <a:p>
            <a:pPr>
              <a:defRPr sz="1300"/>
            </a:pPr>
            <a:r>
              <a:t>Tangará da Serra: 6 mun. críticos</a:t>
            </a:r>
          </a:p>
          <a:p>
            <a:pPr>
              <a:defRPr sz="1300"/>
            </a:pPr>
            <a:r>
              <a:t>Sinop: 5 mun. críticos</a:t>
            </a:r>
          </a:p>
          <a:p>
            <a:pPr>
              <a:defRPr sz="1300"/>
            </a:pPr>
            <a:r>
              <a:t>Cemaden: Cuiabá — Risco Hidrológico - Moderado (Moderado)</a:t>
            </a:r>
          </a:p>
          <a:p>
            <a:pPr>
              <a:defRPr sz="1300"/>
            </a:pPr>
            <a:r>
              <a:t>Cemaden: Lucas do Rio Verde — Chuva Intensidade - Alto (Alto)</a:t>
            </a:r>
          </a:p>
          <a:p>
            <a:pPr>
              <a:defRPr sz="1300"/>
            </a:pPr>
            <a:r>
              <a:t>ANA risco municipal: 11 registros na base.</a:t>
            </a:r>
          </a:p>
        </p:txBody>
      </p:sp>
      <p:pic>
        <p:nvPicPr>
          <p:cNvPr id="4" name="Picture 3" descr="regionais_crit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3236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Correlação clima–saúde (exploratória)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Spearman municipal persistido (analise_clima_saude_correlacoes_v8). (CIEVS-MT, 2026)</a:t>
            </a:r>
          </a:p>
          <a:p>
            <a:pPr>
              <a:defRPr sz="1300"/>
            </a:pPr>
            <a:r>
              <a:t>Pares calculados: 112 · interpretação ecológica, não causal.</a:t>
            </a:r>
          </a:p>
          <a:p>
            <a:pPr>
              <a:defRPr sz="1300"/>
            </a:pPr>
            <a:r>
              <a:t>risco_cumulativo_3d → pressao_calor_pct: |ρ|=0.84 (n=142)</a:t>
            </a:r>
          </a:p>
          <a:p>
            <a:pPr>
              <a:defRPr sz="1300"/>
            </a:pPr>
            <a:r>
              <a:t>risco_calor_diario → pressao_calor_pct: |ρ|=0.79 (n=142)</a:t>
            </a:r>
          </a:p>
          <a:p>
            <a:pPr>
              <a:defRPr sz="1300"/>
            </a:pPr>
            <a:r>
              <a:t>utci_proxy → pressao_calor_pct: |ρ|=0.72 (n=142)</a:t>
            </a:r>
          </a:p>
          <a:p>
            <a:pPr>
              <a:defRPr sz="1300"/>
            </a:pPr>
            <a:r>
              <a:t>heat_index → pressao_calor_pct: |ρ|=0.68 (n=142)</a:t>
            </a:r>
          </a:p>
          <a:p>
            <a:pPr>
              <a:defRPr sz="1300"/>
            </a:pPr>
            <a:r>
              <a:t>o3_ugm3 → score: |ρ|=0.65 (n=12)</a:t>
            </a:r>
          </a:p>
          <a:p>
            <a:pPr>
              <a:defRPr sz="1300"/>
            </a:pPr>
            <a:r>
              <a:t>tmedia → pressao_calor_pct: |ρ|=0.64 (n=142)</a:t>
            </a:r>
          </a:p>
        </p:txBody>
      </p:sp>
      <p:pic>
        <p:nvPicPr>
          <p:cNvPr id="4" name="Picture 3" descr="correlacoe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Implicações para vigilância em 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Calibri"/>
              </a:defRPr>
            </a:pPr>
            <a:r>
              <a:t>Contexto oficial (JAS): calor acima da média e chuva abaixo no centro-norte → estiagem/queimadas. (INMET et al., 2026a)</a:t>
            </a:r>
          </a:p>
          <a:p>
            <a:pPr>
              <a:defRPr sz="1300">
                <a:latin typeface="Calibri"/>
              </a:defRPr>
            </a:pPr>
            <a:r>
              <a:t>No SIS hoje: umidade caindo até 01/08, risco 3d subindo, muitos municípios em laranja/vermelha/roxa.</a:t>
            </a:r>
          </a:p>
          <a:p>
            <a:pPr>
              <a:defRPr sz="1300">
                <a:latin typeface="Calibri"/>
              </a:defRPr>
            </a:pPr>
            <a:r>
              <a:t>SRAG concentrada em polos (Cuiabá, VG, Rondonópolis, Sinop, Cáceres, Nova Mutum…). (CIEVS-MT, 2026)</a:t>
            </a:r>
          </a:p>
          <a:p>
            <a:pPr>
              <a:defRPr sz="1300">
                <a:latin typeface="Calibri"/>
              </a:defRPr>
            </a:pPr>
            <a:r>
              <a:t>Ar: PM2,5 elevado onde há medição (VG, Cuiabá, Alta Floresta) — reforçar vigilância respiratória. (CIEVS-MT, 2026)</a:t>
            </a:r>
          </a:p>
          <a:p>
            <a:pPr>
              <a:defRPr sz="1300">
                <a:latin typeface="Calibri"/>
              </a:defRPr>
            </a:pPr>
            <a:r>
              <a:t>Papel do SIS: priorizar municípios e regionais para o CIEVS — não declarar desastre só pelo score.</a:t>
            </a:r>
          </a:p>
          <a:p>
            <a:pPr>
              <a:defRPr sz="1300">
                <a:latin typeface="Calibri"/>
              </a:defRPr>
            </a:pPr>
            <a:r>
              <a:t>Referência estadual de queimadas × respiratórias: (MATO GROSSO, [2024?])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usar / apresentar a ferramenta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Calibri"/>
              </a:defRPr>
            </a:pPr>
            <a:r>
              <a:t>1) Abrir o painel Streamlit → bloco Situação (mapa + ranking).</a:t>
            </a:r>
          </a:p>
          <a:p>
            <a:pPr>
              <a:defRPr sz="1300">
                <a:latin typeface="Calibri"/>
              </a:defRPr>
            </a:pPr>
            <a:r>
              <a:t>2) Filtrar regional/município no topo; mostrar nível, score e motivo.</a:t>
            </a:r>
          </a:p>
          <a:p>
            <a:pPr>
              <a:defRPr sz="1300">
                <a:latin typeface="Calibri"/>
              </a:defRPr>
            </a:pPr>
            <a:r>
              <a:t>3) Clima: TITAN/biometeo + qualidade do ar; explicitar cobertura parcial de ar/IndicaSUS.</a:t>
            </a:r>
          </a:p>
          <a:p>
            <a:pPr>
              <a:defRPr sz="1300">
                <a:latin typeface="Calibri"/>
              </a:defRPr>
            </a:pPr>
            <a:r>
              <a:t>4) Saúde: SIVEP/SRAG, arboviroses, GeoCalor; correlação com a frase ‘exploratório’.</a:t>
            </a:r>
          </a:p>
          <a:p>
            <a:pPr>
              <a:defRPr sz="1300">
                <a:latin typeface="Calibri"/>
              </a:defRPr>
            </a:pPr>
            <a:r>
              <a:t>5) Operação: alerta inteligente + predição 7d (semana) · citar Painel El Niño para o trimestre.</a:t>
            </a:r>
          </a:p>
          <a:p>
            <a:pPr>
              <a:defRPr sz="1300">
                <a:latin typeface="Calibri"/>
              </a:defRPr>
            </a:pPr>
            <a:r>
              <a:t>6) Fechar com recomendações de vigilância (calor, ar, SRAG, vetores) — sem números inventados.</a:t>
            </a:r>
          </a:p>
          <a:p>
            <a:pPr>
              <a:defRPr sz="1300">
                <a:latin typeface="Calibri"/>
              </a:defRPr>
            </a:pPr>
            <a:r>
              <a:t>Regenerar esta apresentação após atualizar o banco: python gerar_apresentacao_cenario_setembro.py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 (ABNT NBR 6023:2018)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NOAA. Climate Prediction Center. ENSO Diagnostic Discussion. 9 July 2026.</a:t>
            </a:r>
          </a:p>
          <a:p>
            <a:pPr>
              <a:defRPr sz="1200">
                <a:latin typeface="Calibri"/>
              </a:defRPr>
            </a:pPr>
            <a:r>
              <a:t>IRI. ENSO Forecast: July 2026 Quick Look. Columbia Climate School, 2026.</a:t>
            </a:r>
          </a:p>
          <a:p>
            <a:pPr>
              <a:defRPr sz="1200">
                <a:latin typeface="Calibri"/>
              </a:defRPr>
            </a:pPr>
            <a:r>
              <a:t>INMET et al. Painel El Niño 2026-2027: boletim mensal n.º 01. jun. 2026.</a:t>
            </a:r>
          </a:p>
          <a:p>
            <a:pPr>
              <a:defRPr sz="1200">
                <a:latin typeface="Calibri"/>
              </a:defRPr>
            </a:pPr>
            <a:r>
              <a:t>INMET. El Niño 2026: monitoramento, previsões e impactos no Brasil. 2026.</a:t>
            </a:r>
          </a:p>
          <a:p>
            <a:pPr>
              <a:defRPr sz="1200">
                <a:latin typeface="Calibri"/>
              </a:defRPr>
            </a:pPr>
            <a:r>
              <a:t>INPE. Painel El Niño 2026-2027 (notícia institucional). 2026.</a:t>
            </a:r>
          </a:p>
          <a:p>
            <a:pPr>
              <a:defRPr sz="1200">
                <a:latin typeface="Calibri"/>
              </a:defRPr>
            </a:pPr>
            <a:r>
              <a:t>INPE; INMET; FUNCEME; CENSIPAM. Nota técnica conjunta: El Niño 2026.</a:t>
            </a:r>
          </a:p>
          <a:p>
            <a:pPr>
              <a:defRPr sz="1200">
                <a:latin typeface="Calibri"/>
              </a:defRPr>
            </a:pPr>
            <a:r>
              <a:t>MATO GROSSO. SES. Queimadas e internações respiratórias, 2021–2023.</a:t>
            </a:r>
          </a:p>
          <a:p>
            <a:pPr>
              <a:defRPr sz="1200">
                <a:latin typeface="Calibri"/>
              </a:defRPr>
            </a:pPr>
            <a:r>
              <a:t>CIEVS-MT. SIS Integrado Clima-Saúde MT (extração 27 jul. 2026). OPEN-METEO (docs API).</a:t>
            </a:r>
          </a:p>
          <a:p>
            <a:pPr>
              <a:defRPr sz="1200">
                <a:latin typeface="Calibri"/>
              </a:defRPr>
            </a:pPr>
            <a:r>
              <a:t>Lista completa: docs/apresentacoes/REFERENCIAS_ABNT_6023.md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CIEVS-MT · SIS Integrado Clima-Saúde</a:t>
            </a:r>
          </a:p>
          <a:p>
            <a:r>
              <a:t>Ferramenta de vigilância municipal · fontes oficiais para o El Niño</a:t>
            </a:r>
          </a:p>
          <a:p>
            <a:r>
              <a:t>Referências na norma ABNT NBR 6023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Office PowerPoint</Application>
  <PresentationFormat>Personalizar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Calibri</vt:lpstr>
      <vt:lpstr>Open Sans Ultra-Bold</vt:lpstr>
      <vt:lpstr>Uni Sans</vt:lpstr>
      <vt:lpstr>Open Sans Bold</vt:lpstr>
      <vt:lpstr>Open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Padrão</dc:title>
  <cp:lastModifiedBy>Robinson Borborema</cp:lastModifiedBy>
  <cp:revision>2</cp:revision>
  <dcterms:created xsi:type="dcterms:W3CDTF">2006-08-16T00:00:00Z</dcterms:created>
  <dcterms:modified xsi:type="dcterms:W3CDTF">2026-07-24T20:43:38Z</dcterms:modified>
  <dc:identifier>DAHMw4jdhZo</dc:identifier>
</cp:coreProperties>
</file>