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Georgia Pro Light" charset="1" panose="02040302050405020303"/>
      <p:regular r:id="rId14"/>
    </p:embeddedFont>
    <p:embeddedFont>
      <p:font typeface="DM Sans" charset="1" panose="00000000000000000000"/>
      <p:regular r:id="rId15"/>
    </p:embeddedFont>
    <p:embeddedFont>
      <p:font typeface="DM Sans Bold" charset="1" panose="000000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35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8991600" cy="10287000"/>
            <a:chOff x="0" y="0"/>
            <a:chExt cx="1035548" cy="118473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35548" cy="1184737"/>
            </a:xfrm>
            <a:custGeom>
              <a:avLst/>
              <a:gdLst/>
              <a:ahLst/>
              <a:cxnLst/>
              <a:rect r="r" b="b" t="t" l="l"/>
              <a:pathLst>
                <a:path h="1184737" w="1035548">
                  <a:moveTo>
                    <a:pt x="0" y="0"/>
                  </a:moveTo>
                  <a:lnTo>
                    <a:pt x="1035548" y="0"/>
                  </a:lnTo>
                  <a:lnTo>
                    <a:pt x="1035548" y="1184737"/>
                  </a:lnTo>
                  <a:lnTo>
                    <a:pt x="0" y="1184737"/>
                  </a:lnTo>
                  <a:close/>
                </a:path>
              </a:pathLst>
            </a:custGeom>
            <a:blipFill>
              <a:blip r:embed="rId2"/>
              <a:stretch>
                <a:fillRect l="0" t="-597" r="0" b="-59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744200" y="666750"/>
            <a:ext cx="6877050" cy="585084"/>
            <a:chOff x="0" y="0"/>
            <a:chExt cx="9169400" cy="780112"/>
          </a:xfrm>
        </p:grpSpPr>
        <p:sp>
          <p:nvSpPr>
            <p:cNvPr name="Freeform 5" id="5"/>
            <p:cNvSpPr/>
            <p:nvPr/>
          </p:nvSpPr>
          <p:spPr>
            <a:xfrm flipH="true" flipV="false" rot="-5400000">
              <a:off x="36553" y="74861"/>
              <a:ext cx="555143" cy="628248"/>
            </a:xfrm>
            <a:custGeom>
              <a:avLst/>
              <a:gdLst/>
              <a:ahLst/>
              <a:cxnLst/>
              <a:rect r="r" b="b" t="t" l="l"/>
              <a:pathLst>
                <a:path h="628248" w="555143">
                  <a:moveTo>
                    <a:pt x="555143" y="0"/>
                  </a:moveTo>
                  <a:lnTo>
                    <a:pt x="0" y="0"/>
                  </a:lnTo>
                  <a:lnTo>
                    <a:pt x="0" y="628248"/>
                  </a:lnTo>
                  <a:lnTo>
                    <a:pt x="555143" y="628248"/>
                  </a:lnTo>
                  <a:lnTo>
                    <a:pt x="555143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 rot="0">
              <a:off x="795304" y="95250"/>
              <a:ext cx="8374096" cy="6848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55"/>
                </a:lnSpc>
              </a:pPr>
              <a:r>
                <a:rPr lang="en-US" sz="3864" spc="-77">
                  <a:solidFill>
                    <a:srgbClr val="F3F6F4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rPr>
                <a:t>CIEVS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734675" y="1562100"/>
            <a:ext cx="6886575" cy="4189168"/>
            <a:chOff x="0" y="0"/>
            <a:chExt cx="9182100" cy="5585558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171450"/>
              <a:ext cx="9182100" cy="35166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900"/>
                </a:lnSpc>
              </a:pPr>
              <a:r>
                <a:rPr lang="en-US" sz="9900">
                  <a:solidFill>
                    <a:srgbClr val="F3F6F4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rPr>
                <a:t>SIS Clima-Saúde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3939003"/>
              <a:ext cx="9172670" cy="16465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039"/>
                </a:lnSpc>
              </a:pPr>
              <a:r>
                <a:rPr lang="en-US" sz="3599">
                  <a:solidFill>
                    <a:srgbClr val="F3F6F4"/>
                  </a:solidFill>
                  <a:latin typeface="DM Sans"/>
                  <a:ea typeface="DM Sans"/>
                  <a:cs typeface="DM Sans"/>
                  <a:sym typeface="DM Sans"/>
                </a:rPr>
                <a:t>Do Plano de Contingência à Decisão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744200" y="8740903"/>
            <a:ext cx="5743575" cy="888872"/>
            <a:chOff x="0" y="0"/>
            <a:chExt cx="7658100" cy="1185162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691344"/>
              <a:ext cx="7658100" cy="4938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80"/>
                </a:lnSpc>
                <a:spcBef>
                  <a:spcPct val="0"/>
                </a:spcBef>
              </a:pPr>
              <a:r>
                <a:rPr lang="en-US" sz="2200">
                  <a:solidFill>
                    <a:srgbClr val="F3F6F4"/>
                  </a:solidFill>
                  <a:latin typeface="DM Sans"/>
                  <a:ea typeface="DM Sans"/>
                  <a:cs typeface="DM Sans"/>
                  <a:sym typeface="DM Sans"/>
                </a:rPr>
                <a:t>[Presenter Name]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-47625"/>
              <a:ext cx="7658100" cy="569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b="true" sz="2600">
                  <a:solidFill>
                    <a:srgbClr val="F3F6F4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APRESENTADO POR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35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34675" y="0"/>
            <a:ext cx="7553325" cy="10287000"/>
            <a:chOff x="0" y="0"/>
            <a:chExt cx="1170208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0208" cy="1593725"/>
            </a:xfrm>
            <a:custGeom>
              <a:avLst/>
              <a:gdLst/>
              <a:ahLst/>
              <a:cxnLst/>
              <a:rect r="r" b="b" t="t" l="l"/>
              <a:pathLst>
                <a:path h="1593725" w="1170208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205" r="0" b="-20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666750"/>
            <a:ext cx="8324850" cy="3747081"/>
            <a:chOff x="0" y="0"/>
            <a:chExt cx="11099800" cy="4996108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66675"/>
              <a:ext cx="11099800" cy="30405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800"/>
                </a:lnSpc>
              </a:pPr>
              <a:r>
                <a:rPr lang="en-US" sz="8000">
                  <a:solidFill>
                    <a:srgbClr val="F3F6F4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rPr>
                <a:t>Importância do SIS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3533703"/>
              <a:ext cx="11099800" cy="14624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F3F6F4"/>
                  </a:solidFill>
                  <a:latin typeface="DM Sans"/>
                  <a:ea typeface="DM Sans"/>
                  <a:cs typeface="DM Sans"/>
                  <a:sym typeface="DM Sans"/>
                </a:rPr>
                <a:t>O SIS é crucial para </a:t>
              </a:r>
              <a:r>
                <a:rPr lang="en-US" b="true" sz="2100">
                  <a:solidFill>
                    <a:srgbClr val="F3F6F4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decisões ágeis</a:t>
              </a:r>
              <a:r>
                <a:rPr lang="en-US" sz="2100">
                  <a:solidFill>
                    <a:srgbClr val="F3F6F4"/>
                  </a:solidFill>
                  <a:latin typeface="DM Sans"/>
                  <a:ea typeface="DM Sans"/>
                  <a:cs typeface="DM Sans"/>
                  <a:sym typeface="DM Sans"/>
                </a:rPr>
                <a:t> em situações de seca e estiagem, permitindo que gestores priorizem ações fundamentais e integrem dados de clima, saúde e regulação.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0835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733425"/>
            <a:ext cx="15821025" cy="114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00"/>
              </a:lnSpc>
              <a:spcBef>
                <a:spcPct val="0"/>
              </a:spcBef>
            </a:pPr>
            <a:r>
              <a:rPr lang="en-US" sz="8000">
                <a:solidFill>
                  <a:srgbClr val="F3F6F4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O que o sistema traz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4248150"/>
            <a:ext cx="4314825" cy="3027709"/>
            <a:chOff x="0" y="0"/>
            <a:chExt cx="5753100" cy="4036945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1146175"/>
              <a:ext cx="5753100" cy="28907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</a:pPr>
              <a:r>
                <a:rPr lang="en-US" sz="2099">
                  <a:solidFill>
                    <a:srgbClr val="F3F6F4"/>
                  </a:solidFill>
                  <a:latin typeface="DM Sans"/>
                  <a:ea typeface="DM Sans"/>
                  <a:cs typeface="DM Sans"/>
                  <a:sym typeface="DM Sans"/>
                </a:rPr>
                <a:t>O SIS utiliza dados de fontes confiáveis como Open-Meteo e INMET, fornecendo previsões precisas para guiar as decisões durante emergências relacionadas ao clima.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-47625"/>
              <a:ext cx="5753100" cy="569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b="true" sz="2600">
                  <a:solidFill>
                    <a:srgbClr val="F3F6F4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CLIMA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419850" y="4248150"/>
            <a:ext cx="4314825" cy="3027709"/>
            <a:chOff x="0" y="0"/>
            <a:chExt cx="5753100" cy="4036945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1146175"/>
              <a:ext cx="5753100" cy="28907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</a:pPr>
              <a:r>
                <a:rPr lang="en-US" sz="2099">
                  <a:solidFill>
                    <a:srgbClr val="F3F6F4"/>
                  </a:solidFill>
                  <a:latin typeface="DM Sans"/>
                  <a:ea typeface="DM Sans"/>
                  <a:cs typeface="DM Sans"/>
                  <a:sym typeface="DM Sans"/>
                </a:rPr>
                <a:t>Integra informações de saúde pública de SINAN e SIM, permitindo uma visão clara da situação sanitária e facilitando respostas rápidas e eficazes às necessidades emergenciais.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47625"/>
              <a:ext cx="5753100" cy="569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b="true" sz="2600">
                  <a:solidFill>
                    <a:srgbClr val="F3F6F4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SAÚDE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172950" y="4248150"/>
            <a:ext cx="4314825" cy="3391992"/>
            <a:chOff x="0" y="0"/>
            <a:chExt cx="5753100" cy="4522656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1146175"/>
              <a:ext cx="5753100" cy="33764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</a:pPr>
              <a:r>
                <a:rPr lang="en-US" sz="2099">
                  <a:solidFill>
                    <a:srgbClr val="F3F6F4"/>
                  </a:solidFill>
                  <a:latin typeface="DM Sans"/>
                  <a:ea typeface="DM Sans"/>
                  <a:cs typeface="DM Sans"/>
                  <a:sym typeface="DM Sans"/>
                </a:rPr>
                <a:t>O SISREG permite o monitoramento de filas e pendências em 140 municípios, assegurando que a regulação esteja alinhada com as demandas emergenciais no contexto da saúde pública.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-47625"/>
              <a:ext cx="5753100" cy="569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b="true" sz="2600">
                  <a:solidFill>
                    <a:srgbClr val="F3F6F4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REGULAÇÃO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10734675" cy="10287000"/>
          </a:xfrm>
          <a:prstGeom prst="rect">
            <a:avLst/>
          </a:prstGeom>
          <a:solidFill>
            <a:srgbClr val="08352E"/>
          </a:solidFill>
        </p:spPr>
      </p:sp>
      <p:sp>
        <p:nvSpPr>
          <p:cNvPr name="TextBox 3" id="3"/>
          <p:cNvSpPr txBox="true"/>
          <p:nvPr/>
        </p:nvSpPr>
        <p:spPr>
          <a:xfrm rot="0">
            <a:off x="666750" y="733425"/>
            <a:ext cx="9763125" cy="2263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00"/>
              </a:lnSpc>
              <a:spcBef>
                <a:spcPct val="0"/>
              </a:spcBef>
            </a:pPr>
            <a:r>
              <a:rPr lang="en-US" sz="8000">
                <a:solidFill>
                  <a:srgbClr val="F3F6F4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Snapshot ao vivo do painel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666750" y="4248150"/>
            <a:ext cx="4010025" cy="1277770"/>
            <a:chOff x="0" y="0"/>
            <a:chExt cx="5346700" cy="1703694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1231889"/>
              <a:ext cx="5346700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F3F6F4"/>
                  </a:solidFill>
                  <a:latin typeface="DM Sans"/>
                  <a:ea typeface="DM Sans"/>
                  <a:cs typeface="DM Sans"/>
                  <a:sym typeface="DM Sans"/>
                </a:rPr>
                <a:t>KPIs visuais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-57150"/>
              <a:ext cx="5346700" cy="11407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03"/>
                </a:lnSpc>
              </a:pPr>
              <a:r>
                <a:rPr lang="en-US" b="true" sz="2502">
                  <a:solidFill>
                    <a:srgbClr val="F3F6F4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DISTRIBUIÇÃO OPERACIONAL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66750" y="6049448"/>
            <a:ext cx="4010025" cy="839620"/>
            <a:chOff x="0" y="0"/>
            <a:chExt cx="5346700" cy="1119494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647689"/>
              <a:ext cx="5346700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F3F6F4"/>
                  </a:solidFill>
                  <a:latin typeface="DM Sans"/>
                  <a:ea typeface="DM Sans"/>
                  <a:cs typeface="DM Sans"/>
                  <a:sym typeface="DM Sans"/>
                </a:rPr>
                <a:t>Dados em tempo real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-57150"/>
              <a:ext cx="5346700" cy="5565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03"/>
                </a:lnSpc>
              </a:pPr>
              <a:r>
                <a:rPr lang="en-US" b="true" sz="2502">
                  <a:solidFill>
                    <a:srgbClr val="F3F6F4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INDICADORES DE SAÚDE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66750" y="7829550"/>
            <a:ext cx="4010025" cy="839620"/>
            <a:chOff x="0" y="0"/>
            <a:chExt cx="5346700" cy="1119494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647689"/>
              <a:ext cx="5346700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F3F6F4"/>
                  </a:solidFill>
                  <a:latin typeface="DM Sans"/>
                  <a:ea typeface="DM Sans"/>
                  <a:cs typeface="DM Sans"/>
                  <a:sym typeface="DM Sans"/>
                </a:rPr>
                <a:t>Cores de risco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-57150"/>
              <a:ext cx="5346700" cy="5565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03"/>
                </a:lnSpc>
              </a:pPr>
              <a:r>
                <a:rPr lang="en-US" b="true" sz="2502">
                  <a:solidFill>
                    <a:srgbClr val="F3F6F4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STATUS DE ALERTA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3611225" y="3352800"/>
            <a:ext cx="4010025" cy="6267450"/>
            <a:chOff x="0" y="0"/>
            <a:chExt cx="621258" cy="97099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21258" cy="970992"/>
            </a:xfrm>
            <a:custGeom>
              <a:avLst/>
              <a:gdLst/>
              <a:ahLst/>
              <a:cxnLst/>
              <a:rect r="r" b="b" t="t" l="l"/>
              <a:pathLst>
                <a:path h="970992" w="621258">
                  <a:moveTo>
                    <a:pt x="0" y="0"/>
                  </a:moveTo>
                  <a:lnTo>
                    <a:pt x="621258" y="0"/>
                  </a:lnTo>
                  <a:lnTo>
                    <a:pt x="621258" y="970992"/>
                  </a:lnTo>
                  <a:lnTo>
                    <a:pt x="0" y="970992"/>
                  </a:lnTo>
                  <a:close/>
                </a:path>
              </a:pathLst>
            </a:custGeom>
            <a:blipFill>
              <a:blip r:embed="rId2"/>
              <a:stretch>
                <a:fillRect l="0" t="-478" r="0" b="-478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296400" y="3352800"/>
            <a:ext cx="4010025" cy="6267450"/>
            <a:chOff x="0" y="0"/>
            <a:chExt cx="621258" cy="97099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21258" cy="970992"/>
            </a:xfrm>
            <a:custGeom>
              <a:avLst/>
              <a:gdLst/>
              <a:ahLst/>
              <a:cxnLst/>
              <a:rect r="r" b="b" t="t" l="l"/>
              <a:pathLst>
                <a:path h="970992" w="621258">
                  <a:moveTo>
                    <a:pt x="0" y="0"/>
                  </a:moveTo>
                  <a:lnTo>
                    <a:pt x="621258" y="0"/>
                  </a:lnTo>
                  <a:lnTo>
                    <a:pt x="621258" y="970992"/>
                  </a:lnTo>
                  <a:lnTo>
                    <a:pt x="0" y="970992"/>
                  </a:lnTo>
                  <a:close/>
                </a:path>
              </a:pathLst>
            </a:custGeom>
            <a:blipFill>
              <a:blip r:embed="rId3"/>
              <a:stretch>
                <a:fillRect l="0" t="-478" r="0" b="-478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4981575" y="3352800"/>
            <a:ext cx="4010025" cy="6267450"/>
            <a:chOff x="0" y="0"/>
            <a:chExt cx="621258" cy="97099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21258" cy="970992"/>
            </a:xfrm>
            <a:custGeom>
              <a:avLst/>
              <a:gdLst/>
              <a:ahLst/>
              <a:cxnLst/>
              <a:rect r="r" b="b" t="t" l="l"/>
              <a:pathLst>
                <a:path h="970992" w="621258">
                  <a:moveTo>
                    <a:pt x="0" y="0"/>
                  </a:moveTo>
                  <a:lnTo>
                    <a:pt x="621258" y="0"/>
                  </a:lnTo>
                  <a:lnTo>
                    <a:pt x="621258" y="970992"/>
                  </a:lnTo>
                  <a:lnTo>
                    <a:pt x="0" y="970992"/>
                  </a:lnTo>
                  <a:close/>
                </a:path>
              </a:pathLst>
            </a:custGeom>
            <a:blipFill>
              <a:blip r:embed="rId4"/>
              <a:stretch>
                <a:fillRect l="0" t="-478" r="0" b="-478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3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733425"/>
            <a:ext cx="15821025" cy="114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00"/>
              </a:lnSpc>
              <a:spcBef>
                <a:spcPct val="0"/>
              </a:spcBef>
            </a:pPr>
            <a:r>
              <a:rPr lang="en-US" sz="8000">
                <a:solidFill>
                  <a:srgbClr val="0F6E56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Tabela de Resposta do Plano e SIS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4239403"/>
            <a:ext cx="7191375" cy="2672173"/>
            <a:chOff x="0" y="0"/>
            <a:chExt cx="9588500" cy="3562897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1157837"/>
              <a:ext cx="9588500" cy="24050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</a:pPr>
              <a:r>
                <a:rPr lang="en-US" sz="2099">
                  <a:solidFill>
                    <a:srgbClr val="0F6E56"/>
                  </a:solidFill>
                  <a:latin typeface="DM Sans"/>
                  <a:ea typeface="DM Sans"/>
                  <a:cs typeface="DM Sans"/>
                  <a:sym typeface="DM Sans"/>
                </a:rPr>
                <a:t>O sistema SIS Clima-Saúde categoriza a </a:t>
              </a:r>
              <a:r>
                <a:rPr lang="en-US" b="true" sz="2099">
                  <a:solidFill>
                    <a:srgbClr val="0F6E56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resposta</a:t>
              </a:r>
              <a:r>
                <a:rPr lang="en-US" sz="2099">
                  <a:solidFill>
                    <a:srgbClr val="0F6E56"/>
                  </a:solidFill>
                  <a:latin typeface="DM Sans"/>
                  <a:ea typeface="DM Sans"/>
                  <a:cs typeface="DM Sans"/>
                  <a:sym typeface="DM Sans"/>
                </a:rPr>
                <a:t> a emergências em níveis, variando de normalidade a crise. Cada nível possui uma cor específica, que facilita a identificação da situação atual e a tomada de decisões rápidas.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-47625"/>
              <a:ext cx="9588500" cy="569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b="true" sz="2600">
                  <a:solidFill>
                    <a:srgbClr val="0F6E56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NÍVEIS DE RESPOSTA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296400" y="4239403"/>
            <a:ext cx="7191375" cy="2672173"/>
            <a:chOff x="0" y="0"/>
            <a:chExt cx="9588500" cy="3562897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1157837"/>
              <a:ext cx="9588500" cy="24050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</a:pPr>
              <a:r>
                <a:rPr lang="en-US" sz="2099">
                  <a:solidFill>
                    <a:srgbClr val="0F6E56"/>
                  </a:solidFill>
                  <a:latin typeface="DM Sans"/>
                  <a:ea typeface="DM Sans"/>
                  <a:cs typeface="DM Sans"/>
                  <a:sym typeface="DM Sans"/>
                </a:rPr>
                <a:t>As cores do painel, de verde a roxo, indicam a gravidade da situação. Essa </a:t>
              </a:r>
              <a:r>
                <a:rPr lang="en-US" b="true" sz="2099">
                  <a:solidFill>
                    <a:srgbClr val="0F6E56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codificação</a:t>
              </a:r>
              <a:r>
                <a:rPr lang="en-US" sz="2099">
                  <a:solidFill>
                    <a:srgbClr val="0F6E56"/>
                  </a:solidFill>
                  <a:latin typeface="DM Sans"/>
                  <a:ea typeface="DM Sans"/>
                  <a:cs typeface="DM Sans"/>
                  <a:sym typeface="DM Sans"/>
                </a:rPr>
                <a:t> ajuda os gestores a priorizar ações, garantindo uma resposta eficiente e alinhada às necessidades locais durante períodos de seca e estiagem.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47625"/>
              <a:ext cx="9588500" cy="569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b="true" sz="2600">
                  <a:solidFill>
                    <a:srgbClr val="0F6E56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CORES OPERACIONAIS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3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733425"/>
            <a:ext cx="15821025" cy="114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00"/>
              </a:lnSpc>
              <a:spcBef>
                <a:spcPct val="0"/>
              </a:spcBef>
            </a:pPr>
            <a:r>
              <a:rPr lang="en-US" sz="8000">
                <a:solidFill>
                  <a:srgbClr val="0F6E56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Alertas Reais: Níveis de Resposta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4248150"/>
            <a:ext cx="4314825" cy="3027709"/>
            <a:chOff x="0" y="0"/>
            <a:chExt cx="5753100" cy="4036945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1146175"/>
              <a:ext cx="5753100" cy="28907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</a:pPr>
              <a:r>
                <a:rPr lang="en-US" sz="2099">
                  <a:solidFill>
                    <a:srgbClr val="0F6E56"/>
                  </a:solidFill>
                  <a:latin typeface="DM Sans"/>
                  <a:ea typeface="DM Sans"/>
                  <a:cs typeface="DM Sans"/>
                  <a:sym typeface="DM Sans"/>
                </a:rPr>
                <a:t>O alerta </a:t>
              </a:r>
              <a:r>
                <a:rPr lang="en-US" b="true" sz="2099">
                  <a:solidFill>
                    <a:srgbClr val="0F6E56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estatal ROXA</a:t>
              </a:r>
              <a:r>
                <a:rPr lang="en-US" sz="2099">
                  <a:solidFill>
                    <a:srgbClr val="0F6E56"/>
                  </a:solidFill>
                  <a:latin typeface="DM Sans"/>
                  <a:ea typeface="DM Sans"/>
                  <a:cs typeface="DM Sans"/>
                  <a:sym typeface="DM Sans"/>
                </a:rPr>
                <a:t> indica mobilização plena, exigindo atenção imediata das autoridades de saúde para implementar ações necessárias em resposta às emergências.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-47625"/>
              <a:ext cx="5753100" cy="569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b="true" sz="2600">
                  <a:solidFill>
                    <a:srgbClr val="0F6E56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ALERTA ESTADUAL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419850" y="4248150"/>
            <a:ext cx="4314825" cy="3027709"/>
            <a:chOff x="0" y="0"/>
            <a:chExt cx="5753100" cy="4036945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1146175"/>
              <a:ext cx="5753100" cy="28907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</a:pPr>
              <a:r>
                <a:rPr lang="en-US" sz="2099">
                  <a:solidFill>
                    <a:srgbClr val="0F6E56"/>
                  </a:solidFill>
                  <a:latin typeface="DM Sans"/>
                  <a:ea typeface="DM Sans"/>
                  <a:cs typeface="DM Sans"/>
                  <a:sym typeface="DM Sans"/>
                </a:rPr>
                <a:t>Dezoito boletins regionais são emitidos, cada um abrangendo jurisdições municipais, oferecendo informações relevantes e diretrizes específicas para a gestão local durante a seca e estiagem.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47625"/>
              <a:ext cx="5753100" cy="569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b="true" sz="2600">
                  <a:solidFill>
                    <a:srgbClr val="0F6E56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ALERTAS REGIONAIS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172950" y="4248150"/>
            <a:ext cx="4314825" cy="3027709"/>
            <a:chOff x="0" y="0"/>
            <a:chExt cx="5753100" cy="4036945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1146175"/>
              <a:ext cx="5753100" cy="28907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</a:pPr>
              <a:r>
                <a:rPr lang="en-US" sz="2099">
                  <a:solidFill>
                    <a:srgbClr val="0F6E56"/>
                  </a:solidFill>
                  <a:latin typeface="DM Sans"/>
                  <a:ea typeface="DM Sans"/>
                  <a:cs typeface="DM Sans"/>
                  <a:sym typeface="DM Sans"/>
                </a:rPr>
                <a:t>Pacotes de alertas são gerados a partir de limiares operacionais, permitindo que os gestores municipais tenham acesso a dados críticos para a tomada de decisões rápidas e eficazes.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-47625"/>
              <a:ext cx="5753100" cy="569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b="true" sz="2600">
                  <a:solidFill>
                    <a:srgbClr val="0F6E56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ALERTAS MUNICIPAIS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3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733425"/>
            <a:ext cx="5753100" cy="2263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00"/>
              </a:lnSpc>
              <a:spcBef>
                <a:spcPct val="0"/>
              </a:spcBef>
            </a:pPr>
            <a:r>
              <a:rPr lang="en-US" sz="8000">
                <a:solidFill>
                  <a:srgbClr val="0F6E56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Insight à Decisão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296400" y="2409825"/>
            <a:ext cx="7191375" cy="1108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</a:pPr>
            <a:r>
              <a:rPr lang="en-US" sz="2100">
                <a:solidFill>
                  <a:srgbClr val="0F6E56"/>
                </a:solidFill>
                <a:latin typeface="DM Sans"/>
                <a:ea typeface="DM Sans"/>
                <a:cs typeface="DM Sans"/>
                <a:sym typeface="DM Sans"/>
              </a:rPr>
              <a:t>Acesse a visão executiva por 30 segundos para avaliar a distribuição de cores e priorizar ações em resposta ao cenário atual de saúde pública.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296400" y="1514475"/>
            <a:ext cx="7191375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</a:pPr>
            <a:r>
              <a:rPr lang="en-US" b="true" sz="2600">
                <a:solidFill>
                  <a:srgbClr val="0F6E56"/>
                </a:solidFill>
                <a:latin typeface="DM Sans Bold"/>
                <a:ea typeface="DM Sans Bold"/>
                <a:cs typeface="DM Sans Bold"/>
                <a:sym typeface="DM Sans Bold"/>
              </a:rPr>
              <a:t>VISÃO EXECUTIVA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296400" y="5095875"/>
            <a:ext cx="7191375" cy="1108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</a:pPr>
            <a:r>
              <a:rPr lang="en-US" sz="2100">
                <a:solidFill>
                  <a:srgbClr val="0F6E56"/>
                </a:solidFill>
                <a:latin typeface="DM Sans"/>
                <a:ea typeface="DM Sans"/>
                <a:cs typeface="DM Sans"/>
                <a:sym typeface="DM Sans"/>
              </a:rPr>
              <a:t>Utilize mapas por 30 segundos para identificar áreas críticas, e revise alertas estaduais, regionais e municipais para tomar decisões informadas antes de acionar o COE.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296400" y="4200525"/>
            <a:ext cx="7191375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</a:pPr>
            <a:r>
              <a:rPr lang="en-US" b="true" sz="2600">
                <a:solidFill>
                  <a:srgbClr val="0F6E56"/>
                </a:solidFill>
                <a:latin typeface="DM Sans Bold"/>
                <a:ea typeface="DM Sans Bold"/>
                <a:cs typeface="DM Sans Bold"/>
                <a:sym typeface="DM Sans Bold"/>
              </a:rPr>
              <a:t>MAPAS E ALERTAS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34675" y="0"/>
            <a:ext cx="7553325" cy="10287000"/>
            <a:chOff x="0" y="0"/>
            <a:chExt cx="1170208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0208" cy="1593725"/>
            </a:xfrm>
            <a:custGeom>
              <a:avLst/>
              <a:gdLst/>
              <a:ahLst/>
              <a:cxnLst/>
              <a:rect r="r" b="b" t="t" l="l"/>
              <a:pathLst>
                <a:path h="1593725" w="1170208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205" r="0" b="-20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105025" y="6038850"/>
            <a:ext cx="796706" cy="781952"/>
            <a:chOff x="0" y="0"/>
            <a:chExt cx="685800" cy="6731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85800" cy="668020"/>
            </a:xfrm>
            <a:custGeom>
              <a:avLst/>
              <a:gdLst/>
              <a:ahLst/>
              <a:cxnLst/>
              <a:rect r="r" b="b" t="t" l="l"/>
              <a:pathLst>
                <a:path h="668020" w="685800">
                  <a:moveTo>
                    <a:pt x="342900" y="0"/>
                  </a:moveTo>
                  <a:lnTo>
                    <a:pt x="434340" y="162560"/>
                  </a:lnTo>
                  <a:lnTo>
                    <a:pt x="618490" y="132080"/>
                  </a:lnTo>
                  <a:lnTo>
                    <a:pt x="547370" y="304800"/>
                  </a:lnTo>
                  <a:lnTo>
                    <a:pt x="685800" y="430530"/>
                  </a:lnTo>
                  <a:lnTo>
                    <a:pt x="506730" y="482600"/>
                  </a:lnTo>
                  <a:lnTo>
                    <a:pt x="495300" y="668020"/>
                  </a:lnTo>
                  <a:lnTo>
                    <a:pt x="342900" y="561340"/>
                  </a:lnTo>
                  <a:lnTo>
                    <a:pt x="190500" y="668020"/>
                  </a:lnTo>
                  <a:lnTo>
                    <a:pt x="179070" y="482600"/>
                  </a:lnTo>
                  <a:lnTo>
                    <a:pt x="0" y="430530"/>
                  </a:lnTo>
                  <a:lnTo>
                    <a:pt x="138430" y="304800"/>
                  </a:lnTo>
                  <a:lnTo>
                    <a:pt x="67310" y="132080"/>
                  </a:lnTo>
                  <a:lnTo>
                    <a:pt x="251460" y="162560"/>
                  </a:lnTo>
                  <a:close/>
                </a:path>
              </a:pathLst>
            </a:custGeom>
            <a:solidFill>
              <a:srgbClr val="0F6E56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139700" y="117475"/>
              <a:ext cx="406400" cy="4413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105025" y="7829550"/>
            <a:ext cx="796706" cy="781952"/>
            <a:chOff x="0" y="0"/>
            <a:chExt cx="685800" cy="6731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85800" cy="668020"/>
            </a:xfrm>
            <a:custGeom>
              <a:avLst/>
              <a:gdLst/>
              <a:ahLst/>
              <a:cxnLst/>
              <a:rect r="r" b="b" t="t" l="l"/>
              <a:pathLst>
                <a:path h="668020" w="685800">
                  <a:moveTo>
                    <a:pt x="342900" y="0"/>
                  </a:moveTo>
                  <a:lnTo>
                    <a:pt x="434340" y="162560"/>
                  </a:lnTo>
                  <a:lnTo>
                    <a:pt x="618490" y="132080"/>
                  </a:lnTo>
                  <a:lnTo>
                    <a:pt x="547370" y="304800"/>
                  </a:lnTo>
                  <a:lnTo>
                    <a:pt x="685800" y="430530"/>
                  </a:lnTo>
                  <a:lnTo>
                    <a:pt x="506730" y="482600"/>
                  </a:lnTo>
                  <a:lnTo>
                    <a:pt x="495300" y="668020"/>
                  </a:lnTo>
                  <a:lnTo>
                    <a:pt x="342900" y="561340"/>
                  </a:lnTo>
                  <a:lnTo>
                    <a:pt x="190500" y="668020"/>
                  </a:lnTo>
                  <a:lnTo>
                    <a:pt x="179070" y="482600"/>
                  </a:lnTo>
                  <a:lnTo>
                    <a:pt x="0" y="430530"/>
                  </a:lnTo>
                  <a:lnTo>
                    <a:pt x="138430" y="304800"/>
                  </a:lnTo>
                  <a:lnTo>
                    <a:pt x="67310" y="132080"/>
                  </a:lnTo>
                  <a:lnTo>
                    <a:pt x="251460" y="162560"/>
                  </a:lnTo>
                  <a:close/>
                </a:path>
              </a:pathLst>
            </a:custGeom>
            <a:solidFill>
              <a:srgbClr val="0F6E56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139700" y="117475"/>
              <a:ext cx="406400" cy="4413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105025" y="4248150"/>
            <a:ext cx="796706" cy="781952"/>
            <a:chOff x="0" y="0"/>
            <a:chExt cx="685800" cy="6731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85800" cy="668020"/>
            </a:xfrm>
            <a:custGeom>
              <a:avLst/>
              <a:gdLst/>
              <a:ahLst/>
              <a:cxnLst/>
              <a:rect r="r" b="b" t="t" l="l"/>
              <a:pathLst>
                <a:path h="668020" w="685800">
                  <a:moveTo>
                    <a:pt x="342900" y="0"/>
                  </a:moveTo>
                  <a:lnTo>
                    <a:pt x="434340" y="162560"/>
                  </a:lnTo>
                  <a:lnTo>
                    <a:pt x="618490" y="132080"/>
                  </a:lnTo>
                  <a:lnTo>
                    <a:pt x="547370" y="304800"/>
                  </a:lnTo>
                  <a:lnTo>
                    <a:pt x="685800" y="430530"/>
                  </a:lnTo>
                  <a:lnTo>
                    <a:pt x="506730" y="482600"/>
                  </a:lnTo>
                  <a:lnTo>
                    <a:pt x="495300" y="668020"/>
                  </a:lnTo>
                  <a:lnTo>
                    <a:pt x="342900" y="561340"/>
                  </a:lnTo>
                  <a:lnTo>
                    <a:pt x="190500" y="668020"/>
                  </a:lnTo>
                  <a:lnTo>
                    <a:pt x="179070" y="482600"/>
                  </a:lnTo>
                  <a:lnTo>
                    <a:pt x="0" y="430530"/>
                  </a:lnTo>
                  <a:lnTo>
                    <a:pt x="138430" y="304800"/>
                  </a:lnTo>
                  <a:lnTo>
                    <a:pt x="67310" y="132080"/>
                  </a:lnTo>
                  <a:lnTo>
                    <a:pt x="251460" y="162560"/>
                  </a:lnTo>
                  <a:close/>
                </a:path>
              </a:pathLst>
            </a:custGeom>
            <a:solidFill>
              <a:srgbClr val="0F6E56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139700" y="117475"/>
              <a:ext cx="406400" cy="4413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3543300" y="7829550"/>
            <a:ext cx="5448300" cy="895350"/>
            <a:chOff x="0" y="0"/>
            <a:chExt cx="7264400" cy="1193800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731584"/>
              <a:ext cx="7264400" cy="4622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</a:pPr>
              <a:r>
                <a:rPr lang="en-US" sz="2099">
                  <a:solidFill>
                    <a:srgbClr val="0F6E56"/>
                  </a:solidFill>
                  <a:latin typeface="DM Sans"/>
                  <a:ea typeface="DM Sans"/>
                  <a:cs typeface="DM Sans"/>
                  <a:sym typeface="DM Sans"/>
                </a:rPr>
                <a:t>hello@reallygreatsite.com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-47625"/>
              <a:ext cx="7264400" cy="5712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39"/>
                </a:lnSpc>
              </a:pPr>
              <a:r>
                <a:rPr lang="en-US" sz="2599">
                  <a:solidFill>
                    <a:srgbClr val="0F6E56"/>
                  </a:solidFill>
                  <a:latin typeface="DM Sans"/>
                  <a:ea typeface="DM Sans"/>
                  <a:cs typeface="DM Sans"/>
                  <a:sym typeface="DM Sans"/>
                </a:rPr>
                <a:t>E-MAIL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3543300" y="6038850"/>
            <a:ext cx="5448300" cy="895350"/>
            <a:chOff x="0" y="0"/>
            <a:chExt cx="7264400" cy="1193800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731584"/>
              <a:ext cx="7264400" cy="4622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</a:pPr>
              <a:r>
                <a:rPr lang="en-US" sz="2099">
                  <a:solidFill>
                    <a:srgbClr val="0F6E56"/>
                  </a:solidFill>
                  <a:latin typeface="DM Sans"/>
                  <a:ea typeface="DM Sans"/>
                  <a:cs typeface="DM Sans"/>
                  <a:sym typeface="DM Sans"/>
                </a:rPr>
                <a:t>(12) 3456-7890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-47625"/>
              <a:ext cx="7264400" cy="5712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39"/>
                </a:lnSpc>
              </a:pPr>
              <a:r>
                <a:rPr lang="en-US" sz="2599">
                  <a:solidFill>
                    <a:srgbClr val="0F6E56"/>
                  </a:solidFill>
                  <a:latin typeface="DM Sans"/>
                  <a:ea typeface="DM Sans"/>
                  <a:cs typeface="DM Sans"/>
                  <a:sym typeface="DM Sans"/>
                </a:rPr>
                <a:t>TELEFONE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3543300" y="4248150"/>
            <a:ext cx="5448300" cy="895350"/>
            <a:chOff x="0" y="0"/>
            <a:chExt cx="7264400" cy="1193800"/>
          </a:xfrm>
        </p:grpSpPr>
        <p:sp>
          <p:nvSpPr>
            <p:cNvPr name="TextBox 20" id="20"/>
            <p:cNvSpPr txBox="true"/>
            <p:nvPr/>
          </p:nvSpPr>
          <p:spPr>
            <a:xfrm rot="0">
              <a:off x="0" y="731584"/>
              <a:ext cx="7264400" cy="4622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</a:pPr>
              <a:r>
                <a:rPr lang="en-US" sz="2099">
                  <a:solidFill>
                    <a:srgbClr val="0F6E56"/>
                  </a:solidFill>
                  <a:latin typeface="DM Sans"/>
                  <a:ea typeface="DM Sans"/>
                  <a:cs typeface="DM Sans"/>
                  <a:sym typeface="DM Sans"/>
                </a:rPr>
                <a:t>@reallygreatsite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0" y="-47625"/>
              <a:ext cx="7264400" cy="5712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39"/>
                </a:lnSpc>
              </a:pPr>
              <a:r>
                <a:rPr lang="en-US" sz="2599">
                  <a:solidFill>
                    <a:srgbClr val="0F6E56"/>
                  </a:solidFill>
                  <a:latin typeface="DM Sans"/>
                  <a:ea typeface="DM Sans"/>
                  <a:cs typeface="DM Sans"/>
                  <a:sym typeface="DM Sans"/>
                </a:rPr>
                <a:t>INFORMAÇÕES DE CONTATO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666750" y="851535"/>
            <a:ext cx="9763125" cy="2501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00"/>
              </a:lnSpc>
              <a:spcBef>
                <a:spcPct val="0"/>
              </a:spcBef>
            </a:pPr>
            <a:r>
              <a:rPr lang="en-US" sz="9600" strike="noStrike" u="none">
                <a:solidFill>
                  <a:srgbClr val="0F6E56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Contato CIEVS/SES-MT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Apresentação - SIS Clima-Saúde</dc:description>
  <dc:identifier>DAHQugWy9NY</dc:identifier>
  <dcterms:modified xsi:type="dcterms:W3CDTF">2011-08-01T06:04:30Z</dcterms:modified>
  <cp:revision>1</cp:revision>
  <dc:title>Apresentação - SIS Clima-Saúde</dc:title>
</cp:coreProperties>
</file>