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(1 min): Apresente-se (CIEVS). Diga que o SIS é a ferramenta de monitoramento que alimenta a leitura de risco clima–saúde alinhada ao Plano de Contingência seca/estiagem 2026-2027.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(0,5–1 min): Mostre o relógio mental. Prometa demonstração conceitual do painel, não tour longo de telas.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(3 min): Use o PPT do Plano (DOC-WA) como âncora política. Não releia o plano — diga que o SIS é o radar diário que sustenta aqueles eixos e níveis.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(2 min): Conte um exemplo real de plantão (calor + fumaça + ocupação).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(3 min): Repita o limite: predição ~7 dias ≠ forecast sazonal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(2,5 min): Enfatize política SES: sem scrapers ofuscados; User-Agent SIS-Clima-Saude-MT. DW quando a rede permitir; fallback CSV/sample documentado.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(2 min): Relacione Verde≈Nível 0; Amarela/Laranja≈Mobilização/Alerta; Vermelha/Roxa≈Emergência/necessidade de articulação ampliada — sem afirmar equivalência jurídica automática.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(2 min): Se possível, alterne para o navegador (localhost:8501) por 60–90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(2 min): Mostre um mapa de nível e um de tensão climática.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(3 min): Explique o ‘máximo’ como regra conservadora de segurança sanitária.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(2 min): Deixe claro: o SIS apoia; a decisão clínica/gestora continua humana.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(1,5 min): Mensagem para TI: tráfego auditável reduz risco de bloqueio.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(2 min): Peça donos: CIEVS (rotina), TI (rede), assistência (ocupação).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(2–3 min): Abra para perguntas. Ofereça demonstração guiada após a reunião.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3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A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8A6E"/>
                </a:solidFill>
                <a:latin typeface="Calibri"/>
              </a:rPr>
              <a:t>CIEVS-MT · SES-MT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SIS Clima-Saúde MT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00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7EBE3"/>
                </a:solidFill>
                <a:latin typeface="Calibri"/>
              </a:rPr>
              <a:t>Vigilância integrada clima–saúde para apoiar o plantão,
o Plano de Contingência (seca e estiagem) e a resposta estadual.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29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8C7BC"/>
                </a:solidFill>
                <a:latin typeface="Calibri"/>
              </a:rPr>
              <a:t>Apresentação operacional · ~20 minutos · 28/07/2026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83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Roteiro (~20 minutos)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E6DC"/>
                </a:solidFill>
                <a:latin typeface="Calibri"/>
              </a:rPr>
              <a:t>Uma pergunta por bloco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1A2E28"/>
                </a:solidFill>
                <a:latin typeface="Calibri"/>
              </a:rPr>
              <a:t>• Por que clima e saúde juntos em Mato Grosso? (3 min)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A2E28"/>
                </a:solidFill>
                <a:latin typeface="Calibri"/>
              </a:rPr>
              <a:t>• O que é o SIS Clima-Saúde e o que ele NÃO é (3 min)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A2E28"/>
                </a:solidFill>
                <a:latin typeface="Calibri"/>
              </a:rPr>
              <a:t>• Fontes, níveis operacionais e mapas municipais (5 min)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A2E28"/>
                </a:solidFill>
                <a:latin typeface="Calibri"/>
              </a:rPr>
              <a:t>• TITAN, solo, alertas e AdaptaSUS no plantão (5 min)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A2E28"/>
                </a:solidFill>
                <a:latin typeface="Calibri"/>
              </a:rPr>
              <a:t>• Governança técnica, próximos passos e perguntas (4 min)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B5C56"/>
                </a:solidFill>
                <a:latin typeface="Calibri"/>
              </a:rPr>
              <a:t>CIEVS-MT · SIS Clima-Saúde · Código legível · Fontes oficiais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922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4B5C56"/>
                </a:solidFill>
                <a:latin typeface="Calibri"/>
              </a:rPr>
              <a:t>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83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Contexto estadual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E6DC"/>
                </a:solidFill>
                <a:latin typeface="Calibri"/>
              </a:rPr>
              <a:t>Plano de Contingência — seca, estiagem e calor (2026–2027)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6766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A2E28"/>
                </a:solidFill>
                <a:latin typeface="Calibri"/>
              </a:rPr>
              <a:t>• Objetivo do Plano: coordenar vigilância e atenção para mitigar impactos de seca/estiagem.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2E28"/>
                </a:solidFill>
                <a:latin typeface="Calibri"/>
              </a:rPr>
              <a:t>• Base: CME/CIEVS, Sala de Situação SES-MT, decreto de emergência por incêndios (2024).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2E28"/>
                </a:solidFill>
                <a:latin typeface="Calibri"/>
              </a:rPr>
              <a:t>• Cenário: seca extrema, calor &gt;40 °C, focos de calor e sobrecarga assistencial no período seco.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2E28"/>
                </a:solidFill>
                <a:latin typeface="Calibri"/>
              </a:rPr>
              <a:t>• Níveis de resposta do Plano (0 → IV) exigem indicadores contínuos e territoriais.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1371600"/>
            <a:ext cx="4206240" cy="4206240"/>
          </a:xfrm>
          <a:prstGeom prst="roundRect">
            <a:avLst/>
          </a:prstGeom>
          <a:solidFill>
            <a:srgbClr val="FFFFFF"/>
          </a:solidFill>
          <a:ln>
            <a:solidFill>
              <a:srgbClr val="D5E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79" y="1371600"/>
            <a:ext cx="109728" cy="4206240"/>
          </a:xfrm>
          <a:prstGeom prst="rect">
            <a:avLst/>
          </a:prstGeom>
          <a:solidFill>
            <a:srgbClr val="0F6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54111" y="1508760"/>
            <a:ext cx="38404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8352E"/>
                </a:solidFill>
                <a:latin typeface="Calibri"/>
              </a:rPr>
              <a:t>Papel do 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54111" y="1828800"/>
            <a:ext cx="3840479" cy="3611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E28"/>
                </a:solidFill>
                <a:latin typeface="Calibri"/>
              </a:rPr>
              <a:t>Traduz clima, ar, água, solo, assistência e agravos em um nível operacional municipal para o CIEVS decidir com a mesma lógica de preparação/resposta do Plano.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B5C56"/>
                </a:solidFill>
                <a:latin typeface="Calibri"/>
              </a:rPr>
              <a:t>CIEVS-MT · SIS Clima-Saúde · Código legível · Fontes oficiais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4922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4B5C56"/>
                </a:solidFill>
                <a:latin typeface="Calibri"/>
              </a:rPr>
              <a:t>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83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O problema operacional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E6DC"/>
                </a:solidFill>
                <a:latin typeface="Calibri"/>
              </a:rPr>
              <a:t>Dados existem — a decisão precisa ser integrada e oportuna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36576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5E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09728" cy="43891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4173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8352E"/>
                </a:solidFill>
                <a:latin typeface="Calibri"/>
              </a:rPr>
              <a:t>Fragmentação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737360"/>
            <a:ext cx="3291840" cy="379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E28"/>
                </a:solidFill>
                <a:latin typeface="Calibri"/>
              </a:rPr>
              <a:t>Clima (INMET/Open-Meteo), queimadas/ar, Cemaden, ANA, IndicaSUS/CNES, SIVEP, SINAN e sentinela vivem em silos diferentes.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280160"/>
            <a:ext cx="36576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5E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280160"/>
            <a:ext cx="109728" cy="4389120"/>
          </a:xfrm>
          <a:prstGeom prst="rect">
            <a:avLst/>
          </a:prstGeom>
          <a:solidFill>
            <a:srgbClr val="C4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14173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8352E"/>
                </a:solidFill>
                <a:latin typeface="Calibri"/>
              </a:rPr>
              <a:t>Tempo do plantão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1737360"/>
            <a:ext cx="3291840" cy="379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E28"/>
                </a:solidFill>
                <a:latin typeface="Calibri"/>
              </a:rPr>
              <a:t>O CIEVS precisa de leitura estadual + municipal em minutos, com motivo, orientação e fila de atenção — não de dezenas de planilhas.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280160"/>
            <a:ext cx="36576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5E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280160"/>
            <a:ext cx="109728" cy="43891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94192" y="14173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8352E"/>
                </a:solidFill>
                <a:latin typeface="Calibri"/>
              </a:rPr>
              <a:t>Resposta escalonada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4192" y="1737360"/>
            <a:ext cx="3291840" cy="379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E28"/>
                </a:solidFill>
                <a:latin typeface="Calibri"/>
              </a:rPr>
              <a:t>Os níveis do Plano (mobilização → crise) pedem evidência rastreável para acionar vigilâncias, assistência e comunicação.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B5C56"/>
                </a:solidFill>
                <a:latin typeface="Calibri"/>
              </a:rPr>
              <a:t>CIEVS-MT · SIS Clima-Saúde · Código legível · Fontes oficiais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64922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4B5C56"/>
                </a:solidFill>
                <a:latin typeface="Calibri"/>
              </a:rPr>
              <a:t>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83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O que é o SIS Clima-Saúde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E6DC"/>
                </a:solidFill>
                <a:latin typeface="Calibri"/>
              </a:rPr>
              <a:t>Painel único de vigilância integrada — CIEVS-MT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A2E28"/>
                </a:solidFill>
                <a:latin typeface="Calibri"/>
              </a:rPr>
              <a:t>• Sistema operacional que cruza exposição climática/ambiental com desfechos e capacidade assistencial.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2E28"/>
                </a:solidFill>
                <a:latin typeface="Calibri"/>
              </a:rPr>
              <a:t>• Cobre os 142 municípios de MT com mapas por polígono (shapefile), filtros por regional e município.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2E28"/>
                </a:solidFill>
                <a:latin typeface="Calibri"/>
              </a:rPr>
              <a:t>• Produz nível operacional (verde→roxa), score, motivos, orientação em linguagem simples e predição ~7 dias.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2E28"/>
                </a:solidFill>
                <a:latin typeface="Calibri"/>
              </a:rPr>
              <a:t>• Incorpora camada TITAN (calor, solo, INMET/Cemaden) e alinhamento AdaptaSUS / guia MS.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2E28"/>
                </a:solidFill>
                <a:latin typeface="Calibri"/>
              </a:rPr>
              <a:t>• Não substitui boletins oficiais de longo prazo (ex.: cenário de setembro) — complementa com horizonte curto.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B5C56"/>
                </a:solidFill>
                <a:latin typeface="Calibri"/>
              </a:rPr>
              <a:t>CIEVS-MT · SIS Clima-Saúde · Código legível · Fontes oficiais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922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4B5C56"/>
                </a:solidFill>
                <a:latin typeface="Calibri"/>
              </a:rPr>
              <a:t>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83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Fontes e 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E6DC"/>
                </a:solidFill>
                <a:latin typeface="Calibri"/>
              </a:rPr>
              <a:t>APIs/SQL oficiais · código legível · auditável na rede 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34440"/>
            <a:ext cx="37033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5E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34440"/>
            <a:ext cx="109728" cy="2011680"/>
          </a:xfrm>
          <a:prstGeom prst="rect">
            <a:avLst/>
          </a:prstGeom>
          <a:solidFill>
            <a:srgbClr val="0F6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37160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8352E"/>
                </a:solidFill>
                <a:latin typeface="Calibri"/>
              </a:rPr>
              <a:t>Clima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691640"/>
            <a:ext cx="33375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E28"/>
                </a:solidFill>
                <a:latin typeface="Calibri"/>
              </a:rPr>
              <a:t>Open-Meteo (Tmax, umidade, vento, precipitação, solo)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234440"/>
            <a:ext cx="37033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5E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234440"/>
            <a:ext cx="109728" cy="2011680"/>
          </a:xfrm>
          <a:prstGeom prst="rect">
            <a:avLst/>
          </a:prstGeom>
          <a:solidFill>
            <a:srgbClr val="1A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137160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8352E"/>
                </a:solidFill>
                <a:latin typeface="Calibri"/>
              </a:rPr>
              <a:t>Alertas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1691640"/>
            <a:ext cx="33375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E28"/>
                </a:solidFill>
                <a:latin typeface="Calibri"/>
              </a:rPr>
              <a:t>INMET · Cemaden (wsAlertas2) · ANA telemetria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234440"/>
            <a:ext cx="37033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5E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79" y="1234440"/>
            <a:ext cx="109728" cy="2011680"/>
          </a:xfrm>
          <a:prstGeom prst="rect">
            <a:avLst/>
          </a:prstGeom>
          <a:solidFill>
            <a:srgbClr val="0F6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9911" y="137160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8352E"/>
                </a:solidFill>
                <a:latin typeface="Calibri"/>
              </a:rPr>
              <a:t>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9911" y="1691640"/>
            <a:ext cx="33375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E28"/>
                </a:solidFill>
                <a:latin typeface="Calibri"/>
              </a:rPr>
              <a:t>Copernicus/CAMS (quando disponível) + proxies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520440"/>
            <a:ext cx="37033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5E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3520440"/>
            <a:ext cx="109728" cy="2011680"/>
          </a:xfrm>
          <a:prstGeom prst="rect">
            <a:avLst/>
          </a:prstGeom>
          <a:solidFill>
            <a:srgbClr val="1A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" y="365760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8352E"/>
                </a:solidFill>
                <a:latin typeface="Calibri"/>
              </a:rPr>
              <a:t>Saúde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3977639"/>
            <a:ext cx="33375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E28"/>
                </a:solidFill>
                <a:latin typeface="Calibri"/>
              </a:rPr>
              <a:t>DW SINAN/SIVEP · IndicaSUS/CNES · sentinela SG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520440"/>
            <a:ext cx="37033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5E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3520440"/>
            <a:ext cx="109728" cy="2011680"/>
          </a:xfrm>
          <a:prstGeom prst="rect">
            <a:avLst/>
          </a:prstGeom>
          <a:solidFill>
            <a:srgbClr val="0F6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365760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8352E"/>
                </a:solidFill>
                <a:latin typeface="Calibri"/>
              </a:rPr>
              <a:t>Território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3712" y="3977639"/>
            <a:ext cx="33375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E28"/>
                </a:solidFill>
                <a:latin typeface="Calibri"/>
              </a:rPr>
              <a:t>Shapefile IBGE/MT · população · regionais de saúde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79" y="3520440"/>
            <a:ext cx="37033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5E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83879" y="3520440"/>
            <a:ext cx="109728" cy="2011680"/>
          </a:xfrm>
          <a:prstGeom prst="rect">
            <a:avLst/>
          </a:prstGeom>
          <a:solidFill>
            <a:srgbClr val="1A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9911" y="3657600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8352E"/>
                </a:solidFill>
                <a:latin typeface="Calibri"/>
              </a:rPr>
              <a:t>Entrega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9911" y="3977639"/>
            <a:ext cx="33375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E28"/>
                </a:solidFill>
                <a:latin typeface="Calibri"/>
              </a:rPr>
              <a:t>PostgreSQL/Docker · Streamlit · alertas e-mail/Telegram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B5C56"/>
                </a:solidFill>
                <a:latin typeface="Calibri"/>
              </a:rPr>
              <a:t>CIEVS-MT · SIS Clima-Saúde · Código legível · Fontes oficiais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0" y="64922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4B5C56"/>
                </a:solidFill>
                <a:latin typeface="Calibri"/>
              </a:rPr>
              <a:t>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83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Níveis operacionais do 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E6DC"/>
                </a:solidFill>
                <a:latin typeface="Calibri"/>
              </a:rPr>
              <a:t>Leitura compatível com a lógica de resposta do Plano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5568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5E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1920240" cy="502920"/>
          </a:xfrm>
          <a:prstGeom prst="roundRect">
            <a:avLst/>
          </a:prstGeom>
          <a:solidFill>
            <a:srgbClr val="1A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9047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Verde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1490472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2E28"/>
                </a:solidFill>
                <a:latin typeface="Calibri"/>
              </a:rPr>
              <a:t>Normalidade / vigilância de rotina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194560"/>
            <a:ext cx="1115568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5E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377440"/>
            <a:ext cx="1920240" cy="502920"/>
          </a:xfrm>
          <a:prstGeom prst="roundRect">
            <a:avLst/>
          </a:prstGeom>
          <a:solidFill>
            <a:srgbClr val="C4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45059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Amarela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450592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2E28"/>
                </a:solidFill>
                <a:latin typeface="Calibri"/>
              </a:rPr>
              <a:t>Atenção — desvio inicial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54680"/>
            <a:ext cx="1115568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5E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3337560"/>
            <a:ext cx="1920240" cy="5029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41071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Laranja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3410712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2E28"/>
                </a:solidFill>
                <a:latin typeface="Calibri"/>
              </a:rPr>
              <a:t>Alerta — pressão assistencial/climática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114800"/>
            <a:ext cx="1115568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5E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4297680"/>
            <a:ext cx="1920240" cy="50292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37083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Vermelha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4370832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2E28"/>
                </a:solidFill>
                <a:latin typeface="Calibri"/>
              </a:rPr>
              <a:t>Alerta alto — resposta ampliada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074920"/>
            <a:ext cx="1115568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5E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5257800"/>
            <a:ext cx="1920240" cy="502920"/>
          </a:xfrm>
          <a:prstGeom prst="round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33095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Roxa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5330952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2E28"/>
                </a:solidFill>
                <a:latin typeface="Calibri"/>
              </a:rPr>
              <a:t>Mobilização plena CIEVS / articulação estadual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B5C56"/>
                </a:solidFill>
                <a:latin typeface="Calibri"/>
              </a:rPr>
              <a:t>CIEVS-MT · SIS Clima-Saúde · Código legível · Fontes oficiais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64922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4B5C56"/>
                </a:solidFill>
                <a:latin typeface="Calibri"/>
              </a:rPr>
              <a:t>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83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Situação na rodada atual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E6DC"/>
                </a:solidFill>
                <a:latin typeface="Calibri"/>
              </a:rPr>
              <a:t>Snapshot do banco operacional (se disponível)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5568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5E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109728" cy="21945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508760"/>
            <a:ext cx="10789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8352E"/>
                </a:solidFill>
                <a:latin typeface="Calibri"/>
              </a:rPr>
              <a:t>Leitura executiva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828800"/>
            <a:ext cx="10789919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E28"/>
                </a:solidFill>
                <a:latin typeface="Calibri"/>
              </a:rPr>
              <a:t>Base: postgresql · Municípios: 142
Município mais crítico (score): Peixoto de Azevedo
Nível no topo: roxa
Distribuição: amarela: 34, laranja: 64, vermelha: 24, roxa: 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4048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A2E28"/>
                </a:solidFill>
                <a:latin typeface="Calibri"/>
              </a:rPr>
              <a:t>• No painel: Visão executiva → Mapas → Clima/TITAN → Alertas.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A2E28"/>
                </a:solidFill>
                <a:latin typeface="Calibri"/>
              </a:rPr>
              <a:t>• Filtros por Regional de Saúde e Município no topo (sem menu lateral confuso).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A2E28"/>
                </a:solidFill>
                <a:latin typeface="Calibri"/>
              </a:rPr>
              <a:t>• Cada cor no mapa = polígono municipal (não pontos).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B5C56"/>
                </a:solidFill>
                <a:latin typeface="Calibri"/>
              </a:rPr>
              <a:t>CIEVS-MT · SIS Clima-Saúde · Código legível · Fontes oficiais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4922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4B5C56"/>
                </a:solidFill>
                <a:latin typeface="Calibri"/>
              </a:rPr>
              <a:t>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83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Mapas cloropléticos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E6DC"/>
                </a:solidFill>
                <a:latin typeface="Calibri"/>
              </a:rPr>
              <a:t>Shapefile municipal MT — decisão territorial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A2E28"/>
                </a:solidFill>
                <a:latin typeface="Calibri"/>
              </a:rPr>
              <a:t>• Geometria oficial dos municípios (shapefile / GeoJSON processado).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2E28"/>
                </a:solidFill>
                <a:latin typeface="Calibri"/>
              </a:rPr>
              <a:t>• Indicadores: nível, tensão climática, carga em saúde, ocupação, PM2,5, solo, arboviroses, SRAG.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2E28"/>
                </a:solidFill>
                <a:latin typeface="Calibri"/>
              </a:rPr>
              <a:t>• Evita leitura por ‘pontinhos’ — mostra área real do município para regionais e gestores.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2E28"/>
                </a:solidFill>
                <a:latin typeface="Calibri"/>
              </a:rPr>
              <a:t>• Recorte por regional preserva o contexto estadual no topo do painel.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B5C56"/>
                </a:solidFill>
                <a:latin typeface="Calibri"/>
              </a:rPr>
              <a:t>CIEVS-MT · SIS Clima-Saúde · Código legível · Fontes oficiais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922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4B5C56"/>
                </a:solidFill>
                <a:latin typeface="Calibri"/>
              </a:rPr>
              <a:t>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83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TITAN + alerta integrado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E6DC"/>
                </a:solidFill>
                <a:latin typeface="Calibri"/>
              </a:rPr>
              <a:t>Calor, solo, hidrologia e canais oficiais no mesmo máximo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548640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D5E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09728" cy="4480560"/>
          </a:xfrm>
          <a:prstGeom prst="rect">
            <a:avLst/>
          </a:prstGeom>
          <a:solidFill>
            <a:srgbClr val="0F6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417319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8352E"/>
                </a:solidFill>
                <a:latin typeface="Calibri"/>
              </a:rPr>
              <a:t>Camada TITAN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737360"/>
            <a:ext cx="512064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E28"/>
                </a:solidFill>
                <a:latin typeface="Calibri"/>
              </a:rPr>
              <a:t>UTCI/proxy, ondas de calor, saturação do solo (Open-Meteo), resiliência de leitos (IndicaSUS+CNES), risco hidro (ANA).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48640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D5E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280160"/>
            <a:ext cx="109728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417319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8352E"/>
                </a:solidFill>
                <a:latin typeface="Calibri"/>
              </a:rPr>
              <a:t>Alerta integrado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1737360"/>
            <a:ext cx="512064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E28"/>
                </a:solidFill>
                <a:latin typeface="Calibri"/>
              </a:rPr>
              <a:t>nivel_alerta_integrado = máximo entre SIS, INMET, Cemaden, solo, hidro e calor — com justificativa em linguagem de plantão.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B5C56"/>
                </a:solidFill>
                <a:latin typeface="Calibri"/>
              </a:rPr>
              <a:t>CIEVS-MT · SIS Clima-Saúde · Código legível · Fontes oficiais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64922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4B5C56"/>
                </a:solidFill>
                <a:latin typeface="Calibri"/>
              </a:rPr>
              <a:t>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83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AdaptaSUS e indicadores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E6DC"/>
                </a:solidFill>
                <a:latin typeface="Calibri"/>
              </a:rPr>
              <a:t>Alinhamento conceitual — sem inventar protocolo paralelo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A2E28"/>
                </a:solidFill>
                <a:latin typeface="Calibri"/>
              </a:rPr>
              <a:t>• Aba AdaptaSUS / Guia MS: riscos climáticos e recomendações de adaptação em saúde.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2E28"/>
                </a:solidFill>
                <a:latin typeface="Calibri"/>
              </a:rPr>
              <a:t>• SIVEP e Sentinela SG com catálogo alinhado a indicadores MS/SVSA.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2E28"/>
                </a:solidFill>
                <a:latin typeface="Calibri"/>
              </a:rPr>
              <a:t>• Sazonalidade e odds ratio para apoiar leitura epidemiológica–climática (com cautela causal).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2E28"/>
                </a:solidFill>
                <a:latin typeface="Calibri"/>
              </a:rPr>
              <a:t>• Ajudante de interpretação: cards de guia + texto justificativo (padrão Meningites/CIEVS).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B5C56"/>
                </a:solidFill>
                <a:latin typeface="Calibri"/>
              </a:rPr>
              <a:t>CIEVS-MT · SIS Clima-Saúde · Código legível · Fontes oficiais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922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4B5C56"/>
                </a:solidFill>
                <a:latin typeface="Calibri"/>
              </a:rPr>
              <a:t>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83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Governança técnica na rede 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E6DC"/>
                </a:solidFill>
                <a:latin typeface="Calibri"/>
              </a:rPr>
              <a:t>Transparência para TI e para a vigilância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A2E28"/>
                </a:solidFill>
                <a:latin typeface="Calibri"/>
              </a:rPr>
              <a:t>• Proibido: código ofuscado/esfumaçado, scrapers stealth, bypass de WAF/CAPTCHA.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2E28"/>
                </a:solidFill>
                <a:latin typeface="Calibri"/>
              </a:rPr>
              <a:t>• Obrigatório: Python legível, SQL versionado em sql/, User-Agent institucional identificável.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2E28"/>
                </a:solidFill>
                <a:latin typeface="Calibri"/>
              </a:rPr>
              <a:t>• Segredos só em .env / secrets do Streamlit — nunca no GitHub.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A2E28"/>
                </a:solidFill>
                <a:latin typeface="Calibri"/>
              </a:rPr>
              <a:t>• Deploy: GitHub (branch painel-v9) · Streamlit Community Cloud · Docker local SES.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B5C56"/>
                </a:solidFill>
                <a:latin typeface="Calibri"/>
              </a:rPr>
              <a:t>CIEVS-MT · SIS Clima-Saúde · Código legível · Fontes oficiais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922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4B5C56"/>
                </a:solidFill>
                <a:latin typeface="Calibri"/>
              </a:rPr>
              <a:t>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83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Próximos passos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E6DC"/>
                </a:solidFill>
                <a:latin typeface="Calibri"/>
              </a:rPr>
              <a:t>Do painel à rotina do CIEVS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A2E28"/>
                </a:solidFill>
                <a:latin typeface="Calibri"/>
              </a:rPr>
              <a:t>• Padronizar abertura do painel no plantão (checklist de 5 minutos).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2E28"/>
                </a:solidFill>
                <a:latin typeface="Calibri"/>
              </a:rPr>
              <a:t>• Integrar envio de alertas (e-mail/Telegram) com validação humana.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2E28"/>
                </a:solidFill>
                <a:latin typeface="Calibri"/>
              </a:rPr>
              <a:t>• Treinar regionais na leitura de mapas e níveis (linguagem simples).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2E28"/>
                </a:solidFill>
                <a:latin typeface="Calibri"/>
              </a:rPr>
              <a:t>• Manter atualização do enriquecimento operacional e da base Postgres.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2E28"/>
                </a:solidFill>
                <a:latin typeface="Calibri"/>
              </a:rPr>
              <a:t>• Articular indicadores do SIS aos gatilhos do Plano de Contingência (mesa técnica).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B5C56"/>
                </a:solidFill>
                <a:latin typeface="Calibri"/>
              </a:rPr>
              <a:t>CIEVS-MT · SIS Clima-Saúde · Código legível · Fontes oficiais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922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4B5C56"/>
                </a:solidFill>
                <a:latin typeface="Calibri"/>
              </a:rPr>
              <a:t>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3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Obrigado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7EBE3"/>
                </a:solidFill>
                <a:latin typeface="Calibri"/>
              </a:rPr>
              <a:t>SIS Clima-Saúde MT — vigilância para decidir a tempo.
Perguntas e encaminhamentos.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548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8C7BC"/>
                </a:solidFill>
                <a:latin typeface="Calibri"/>
              </a:rPr>
              <a:t>CIEVS-MT · SES-MT
Painel: streamlit_app.py · Documentação em docs/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