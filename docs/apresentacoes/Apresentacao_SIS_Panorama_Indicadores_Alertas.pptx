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8A6E"/>
                </a:solidFill>
                <a:latin typeface="Calibri"/>
              </a:rPr>
              <a:t>CIEVS-MT · SES-MT · Plano de Contingência seca/estiagem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SIS Clima-Saúde MT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7EBE3"/>
                </a:solidFill>
                <a:latin typeface="Calibri"/>
              </a:rPr>
              <a:t>Panorama do projeto · Indicadores · Abas do painel · Alertas reais
Rodada 2026-07-28T23:02:06 · backend postgresql · 142 municípios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Alerta estadual agora: 🟣 ROXA  ·  Cuiabá: 🟣 ROXA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C56"/>
                </a:solidFill>
                <a:latin typeface="Calibri"/>
              </a:rPr>
              <a:t>SIS Clima-Saúde MT · CIEVS/SES-MT · dados reais Postgres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B5C56"/>
                </a:solidFill>
                <a:latin typeface="Calibri"/>
              </a:rP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Panorama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7EBE3"/>
                </a:solidFill>
                <a:latin typeface="Calibri"/>
              </a:rPr>
              <a:t>O que é o SIS e para que serve na decisão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A2E28"/>
                </a:solidFill>
                <a:latin typeface="Calibri"/>
              </a:rPr>
              <a:t>• Painel único CIEVS/SES-MT para vigilância integrada clima–saúde em 142 municípios.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A2E28"/>
                </a:solidFill>
                <a:latin typeface="Calibri"/>
              </a:rPr>
              <a:t>• Une fontes oficiais: Open-Meteo/TITAN, INMET, Cemaden, ANA, SINAN, SIVEP, SIM, IndicaSUS, SISREG.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A2E28"/>
                </a:solidFill>
                <a:latin typeface="Calibri"/>
              </a:rPr>
              <a:t>• Produz níveis operacionais (Verde→Roxa), índice de pressão G/A/V e predição ~7 dias.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A2E28"/>
                </a:solidFill>
                <a:latin typeface="Calibri"/>
              </a:rPr>
              <a:t>• Gera alertas em 4 níveis: estadual (SES), regional, municipal e Vigidesastre Cuiabá.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A2E28"/>
                </a:solidFill>
                <a:latin typeface="Calibri"/>
              </a:rPr>
              <a:t>• Apoia o Plano de Contingência seca/estiagem — o SIS informa e prioriza; a gestão decide COE/portarias.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A2E28"/>
                </a:solidFill>
                <a:latin typeface="Calibri"/>
              </a:rPr>
              <a:t>• Código legível (sem ofuscação); painel em http://localhost:8501 (Docker Postgres).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A2E28"/>
                </a:solidFill>
                <a:latin typeface="Calibri"/>
              </a:rPr>
              <a:t>• Nesta rodada: Roxa 20 · Vermelha 26 · Laranja 64 · Amarela 32 · Verde 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C56"/>
                </a:solidFill>
                <a:latin typeface="Calibri"/>
              </a:rPr>
              <a:t>SIS Clima-Saúde MT · CIEVS/SES-MT · dados reais Postgres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B5C56"/>
                </a:solidFill>
                <a:latin typeface="Calibri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Tabela Plano × SIS (template DOC-20260611-WA0013)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7EBE3"/>
                </a:solidFill>
                <a:latin typeface="Calibri"/>
              </a:rPr>
              <a:t>Níveis Zero→IV ↔ Verde→Roxa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114300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91440" cy="50292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88720"/>
            <a:ext cx="11109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52E"/>
                </a:solidFill>
                <a:latin typeface="Calibri"/>
              </a:rPr>
              <a:t>Ponte operacional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111099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28"/>
                </a:solidFill>
                <a:latin typeface="Calibri"/>
              </a:rPr>
              <a:t>Zero — Normalidade  ↔  Verde / Amarela baixa  → rotina
I — Mobilização  ↔  Amarela / Laranja  → boletim e articulação regional
II — Alerta  ↔  Laranja / Vermelha  → prioridade operacional + pressão assistencial
III — Emergência  ↔  Vermelha / Roxa  → sala de situação / COE
IV — Crise  ↔  Roxa sustentada + múltiplos gatilhos  → mobilização plena
Leitura desta rodada: estadual ROXA e Cuiabá ROXA → alinhamento prudente aos níveis III–IV do Plano (validar gatilhos humanos).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C56"/>
                </a:solidFill>
                <a:latin typeface="Calibri"/>
              </a:rPr>
              <a:t>SIS Clima-Saúde MT · CIEVS/SES-MT · dados reais Postgres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B5C56"/>
                </a:solidFill>
                <a:latin typeface="Calibri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Snapshot ao vivo (Postgres)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7EBE3"/>
                </a:solidFill>
                <a:latin typeface="Calibri"/>
              </a:rPr>
              <a:t>Indicadores da rodada atual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2743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91440" cy="1554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887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52E"/>
                </a:solidFill>
                <a:latin typeface="Calibri"/>
              </a:rPr>
              <a:t>Tmáx máx.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2423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28"/>
                </a:solidFill>
                <a:latin typeface="Calibri"/>
              </a:rPr>
              <a:t>36.9 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97280"/>
            <a:ext cx="2743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097280"/>
            <a:ext cx="91440" cy="1554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1887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52E"/>
                </a:solidFill>
                <a:latin typeface="Calibri"/>
              </a:rPr>
              <a:t>UTCI máx.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1481328"/>
            <a:ext cx="2423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28"/>
                </a:solidFill>
                <a:latin typeface="Calibri"/>
              </a:rPr>
              <a:t>35.4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97280"/>
            <a:ext cx="2743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097280"/>
            <a:ext cx="91440" cy="1554480"/>
          </a:xfrm>
          <a:prstGeom prst="rect">
            <a:avLst/>
          </a:prstGeom>
          <a:solidFill>
            <a:srgbClr val="C4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1887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52E"/>
                </a:solidFill>
                <a:latin typeface="Calibri"/>
              </a:rPr>
              <a:t>Ocupação méd.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481328"/>
            <a:ext cx="2423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28"/>
                </a:solidFill>
                <a:latin typeface="Calibri"/>
              </a:rPr>
              <a:t>51.3%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97280"/>
            <a:ext cx="2743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097280"/>
            <a:ext cx="91440" cy="15544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1887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52E"/>
                </a:solidFill>
                <a:latin typeface="Calibri"/>
              </a:rPr>
              <a:t>SISREG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1481328"/>
            <a:ext cx="2423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28"/>
                </a:solidFill>
                <a:latin typeface="Calibri"/>
              </a:rPr>
              <a:t>140 mun.
766.332 abertas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880360"/>
            <a:ext cx="3749039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880360"/>
            <a:ext cx="91440" cy="31089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2971800"/>
            <a:ext cx="34289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52E"/>
                </a:solidFill>
                <a:latin typeface="Calibri"/>
              </a:rPr>
              <a:t>Índices compostos (média estadual)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64408"/>
            <a:ext cx="3428999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28"/>
                </a:solidFill>
                <a:latin typeface="Calibri"/>
              </a:rPr>
              <a:t>Tensão climática: 42
Carga em saúde: 14
Vigilância integrada: 37
Pressão G/A/V: 🟢 103 · 🟡 39 · 🔴 0
Tendência ↑ 110 · → 23 · ↓ 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2880360"/>
            <a:ext cx="3749039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2880360"/>
            <a:ext cx="91440" cy="31089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2971800"/>
            <a:ext cx="34289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52E"/>
                </a:solidFill>
                <a:latin typeface="Calibri"/>
              </a:rPr>
              <a:t>Distribuição operacional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3264408"/>
            <a:ext cx="3428999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28"/>
                </a:solidFill>
                <a:latin typeface="Calibri"/>
              </a:rPr>
              <a:t>🟢 Verde 0
🟡 Amarela 32
🟠 Laranja 64
🔴 Vermelha 26
🟣 Roxa 20
Alertas gerados: 130 pacotes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880360"/>
            <a:ext cx="35661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2880360"/>
            <a:ext cx="91440" cy="3108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297180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52E"/>
                </a:solidFill>
                <a:latin typeface="Calibri"/>
              </a:rPr>
              <a:t>Alerta sentinela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3264408"/>
            <a:ext cx="32461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28"/>
                </a:solidFill>
                <a:latin typeface="Calibri"/>
              </a:rPr>
              <a:t>🟣 Estadual ROXA
🟣 Cuiabá ROXA
Motivo estadual:
SIS estágio roxa; UTCI/proxy 33.4; Risco cumulativo 3d 13.2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C56"/>
                </a:solidFill>
                <a:latin typeface="Calibri"/>
              </a:rPr>
              <a:t>SIS Clima-Saúde MT · CIEVS/SES-MT · dados reais Postgres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B5C56"/>
                </a:solidFill>
                <a:latin typeface="Calibri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Indicadores já criados no 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7EBE3"/>
                </a:solidFill>
                <a:latin typeface="Calibri"/>
              </a:rPr>
              <a:t>Catálogo operacional do painel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Clima/TITAN: Tmáx, UTCI/proxy, risco cumulativo 3d, onda de calor P95, saturação de solo, precipitação.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Ar: PM2,5 / PM10 / O3 / IQA (cobertura parcial Copernicus/CAMS).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Assistência: ocupação IndicaSUS, pressão assistencial, leitos CNES, resiliência.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Índice de pressão G/A/V: IndicaSUS + SISREG + SINAN + SIM (atual, pred 7d, tendência ↑/→/↓).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Epidemiologia: arboviroses 7d/incidência/z-score; SRAG/SIVEP; óbitos SIM calor/cardiorrespiratório.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Compostos: índice_tensao_climatica, indice_carga_saude, indice_vigilancia_integrada, AdaptaSUS.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Estatística: correlação clima–saúde, Odds Ratio, sazonalidade, lags; predição ~7d municipal/regional.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Alertas: nível SIS, alerta integrado SIS+TITAN, alertas multinível (4 escopos).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C56"/>
                </a:solidFill>
                <a:latin typeface="Calibri"/>
              </a:rPr>
              <a:t>SIS Clima-Saúde MT · CIEVS/SES-MT · dados reais Postgres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B5C56"/>
                </a:solidFill>
                <a:latin typeface="Calibri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Abas do painel (app_v9)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7EBE3"/>
                </a:solidFill>
                <a:latin typeface="Calibri"/>
              </a:rPr>
              <a:t>19 seções · navegação horizontal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Visão executiva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Mapas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Guia do leitor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Clima / TITAN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Qualidade do ar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Assistência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Arboviroses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SIVEP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Sentinela SG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GeoCalor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430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AdaptaSUS / Guia MS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Correlação clima-saúde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Cemaden / ANA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Sazonalidade / OR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Operacional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Geografia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Inteligência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Alertas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28"/>
                </a:solidFill>
                <a:latin typeface="Calibri"/>
              </a:rPr>
              <a:t>• Cálculos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C56"/>
                </a:solidFill>
                <a:latin typeface="Calibri"/>
              </a:rPr>
              <a:t>SIS Clima-Saúde MT · CIEVS/SES-MT · dados reais Postgres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B5C56"/>
                </a:solidFill>
                <a:latin typeface="Calibri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Print real — Visão executiva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7EBE3"/>
                </a:solidFill>
                <a:latin typeface="Calibri"/>
              </a:rPr>
              <a:t>Painel http://localhost:8501</a:t>
            </a:r>
          </a:p>
        </p:txBody>
      </p:sp>
      <p:pic>
        <p:nvPicPr>
          <p:cNvPr id="6" name="Picture 5" descr="A_visao_execu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C56"/>
                </a:solidFill>
                <a:latin typeface="Calibri"/>
              </a:rPr>
              <a:t>SIS Clima-Saúde MT · CIEVS/SES-MT · dados reais Postgres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B5C56"/>
                </a:solidFill>
                <a:latin typeface="Calibri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Print real — Mapas / territorial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7EBE3"/>
                </a:solidFill>
                <a:latin typeface="Calibri"/>
              </a:rPr>
              <a:t>Cloropletas por shapefile municipal</a:t>
            </a:r>
          </a:p>
        </p:txBody>
      </p:sp>
      <p:pic>
        <p:nvPicPr>
          <p:cNvPr id="6" name="Picture 5" descr="B_m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C56"/>
                </a:solidFill>
                <a:latin typeface="Calibri"/>
              </a:rPr>
              <a:t>SIS Clima-Saúde MT · CIEVS/SES-MT · dados reais Postgres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B5C56"/>
                </a:solidFill>
                <a:latin typeface="Calibri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Print real — Assistência / índice de pressão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7EBE3"/>
                </a:solidFill>
                <a:latin typeface="Calibri"/>
              </a:rPr>
              <a:t>IndicaSUS · SISREG · SINAN · SIM</a:t>
            </a:r>
          </a:p>
        </p:txBody>
      </p:sp>
      <p:pic>
        <p:nvPicPr>
          <p:cNvPr id="6" name="Picture 5" descr="C_assistencia_pres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C56"/>
                </a:solidFill>
                <a:latin typeface="Calibri"/>
              </a:rPr>
              <a:t>SIS Clima-Saúde MT · CIEVS/SES-MT · dados reais Postgres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B5C56"/>
                </a:solidFill>
                <a:latin typeface="Calibri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Print real — Aba Alertas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7EBE3"/>
                </a:solidFill>
                <a:latin typeface="Calibri"/>
              </a:rPr>
              <a:t>Prévia multinível no painel</a:t>
            </a:r>
          </a:p>
        </p:txBody>
      </p:sp>
      <p:pic>
        <p:nvPicPr>
          <p:cNvPr id="6" name="Picture 5" descr="D_alertas_esta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C56"/>
                </a:solidFill>
                <a:latin typeface="Calibri"/>
              </a:rPr>
              <a:t>SIS Clima-Saúde MT · CIEVS/SES-MT · dados reais Postgres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B5C56"/>
                </a:solidFill>
                <a:latin typeface="Calibri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Modelo de alerta real — ① Estadual (SES/CIEVS)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7EBE3"/>
                </a:solidFill>
                <a:latin typeface="Calibri"/>
              </a:rPr>
              <a:t>🟣 ALERTA ESTADUAL · SES-MT / CIEVS · Roxa — mobilização plena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1430000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🟣  Roxa — mobilização plena  ·  142 municípios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37360"/>
            <a:ext cx="5669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91440" cy="21945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82880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52E"/>
                </a:solidFill>
                <a:latin typeface="Calibri"/>
              </a:rPr>
              <a:t>Motivo / gatilhos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21408"/>
            <a:ext cx="53492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28"/>
                </a:solidFill>
                <a:latin typeface="Calibri"/>
              </a:rPr>
              <a:t>SIS estágio roxa; UTCI/proxy 33.4; Risco cumulativo 3d 13.2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577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91440" cy="21945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82880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52E"/>
                </a:solidFill>
                <a:latin typeface="Calibri"/>
              </a:rPr>
              <a:t>Predição ~7 dias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21408"/>
            <a:ext cx="52578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28"/>
                </a:solidFill>
                <a:latin typeface="Calibri"/>
              </a:rPr>
              <a:t>Horizonte ~7 dias: nível predito predominante Roxa — mobilização plena. Municípios com tendência de piora: 74.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5669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114800"/>
            <a:ext cx="91440" cy="210312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20624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52E"/>
                </a:solidFill>
                <a:latin typeface="Calibri"/>
              </a:rPr>
              <a:t>Indicadores do boletim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498848"/>
            <a:ext cx="53492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28"/>
                </a:solidFill>
                <a:latin typeface="Calibri"/>
              </a:rPr>
              <a:t>Municípios no escopo: 142
Distribuição de níveis: laranja:64, amarela:32, vermelha:26, roxa:20
Nível SIS: roxa
Nível integrado SIS+TITAN: roxa
Score operacional: 4
Score alerta integrado: 4
Tmáx (°C): 34.4
UTCI/proxy: 33.4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114800"/>
            <a:ext cx="5577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114800"/>
            <a:ext cx="91440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20624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52E"/>
                </a:solidFill>
                <a:latin typeface="Calibri"/>
              </a:rPr>
              <a:t>Orientações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498848"/>
            <a:ext cx="525780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28"/>
                </a:solidFill>
                <a:latin typeface="Calibri"/>
              </a:rPr>
              <a:t>Gestor: Comando unificado e apoio interfederativo; redistribuição emergencial de insumos/leitos; comunicação de crise e registro para pós-evento.
Profissional: Protocolos de emergência plena; reforço de equipes; priorização absoluta de risco de vida e notificações imediatas.
População: Emergência sanitária climática: siga orientações oficiais da SES/SMS; procure abrigo/resfriamento e atendimento urgente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C56"/>
                </a:solidFill>
                <a:latin typeface="Calibri"/>
              </a:rPr>
              <a:t>SIS Clima-Saúde MT · CIEVS/SES-MT · dados reais Postgres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B5C56"/>
                </a:solidFill>
                <a:latin typeface="Calibri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④ Vigidesastre Cuiabá + municípios prioritários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7EBE3"/>
                </a:solidFill>
                <a:latin typeface="Calibri"/>
              </a:rPr>
              <a:t>Pacotes gerados nesta rodada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11430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91440" cy="16459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88720"/>
            <a:ext cx="11109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52E"/>
                </a:solidFill>
                <a:latin typeface="Calibri"/>
              </a:rPr>
              <a:t>🟣 ALERTA VIGIDESASTRE CUIABÁ · Roxa — mobilização plena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11109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28"/>
                </a:solidFill>
                <a:latin typeface="Calibri"/>
              </a:rPr>
              <a:t>Motivo: SIS estágio roxa; INMET laranja: Onda de calor; Cemaden laranja: Risco Hidrológico - Moderado; UTCI/proxy 34.0; Risco cumulativo 3d 10.0
Predição: Predição ~7d Cuiabá: Roxa — mobilização plena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A2E28"/>
                </a:solidFill>
                <a:latin typeface="Calibri"/>
              </a:rPr>
              <a:t>• 🟣 Barra do Bugres — roxa · SIS estágio roxa; UTCI/proxy 33.8; Risco cumulativo 3d 12.2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E28"/>
                </a:solidFill>
                <a:latin typeface="Calibri"/>
              </a:rPr>
              <a:t>• 🟣 Barra do Garças — roxa · SIS estágio roxa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E28"/>
                </a:solidFill>
                <a:latin typeface="Calibri"/>
              </a:rPr>
              <a:t>• 🟣 Campinápolis — roxa · SIS estágio roxa; UTCI/proxy 32.4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E28"/>
                </a:solidFill>
                <a:latin typeface="Calibri"/>
              </a:rPr>
              <a:t>• 🟣 Campo Novo do Parecis — roxa · SIS estágio roxa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E28"/>
                </a:solidFill>
                <a:latin typeface="Calibri"/>
              </a:rPr>
              <a:t>• 🟣 Campo Verde — roxa · SIS estágio roxa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E28"/>
                </a:solidFill>
                <a:latin typeface="Calibri"/>
              </a:rPr>
              <a:t>• 🟣 Canarana — roxa · SIS estágio roxa; UTCI/proxy 32.2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E28"/>
                </a:solidFill>
                <a:latin typeface="Calibri"/>
              </a:rPr>
              <a:t>• 🟣 Cláudia — roxa · SIS estágio roxa; UTCI/proxy 33.0; Risco cumulativo 3d 10.1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E28"/>
                </a:solidFill>
                <a:latin typeface="Calibri"/>
              </a:rPr>
              <a:t>• 🟣 Colíder — roxa · SIS estágio roxa; UTCI/proxy 33.0; Risco cumulativo 3d 11.9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C56"/>
                </a:solidFill>
                <a:latin typeface="Calibri"/>
              </a:rPr>
              <a:t>SIS Clima-Saúde MT · CIEVS/SES-MT · dados reais Postgres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B5C56"/>
                </a:solidFill>
                <a:latin typeface="Calibri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Modelo de mensagem Telegram / E-mail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7EBE3"/>
                </a:solidFill>
                <a:latin typeface="Calibri"/>
              </a:rPr>
              <a:t>PRÉVIA DO CANAL — envio OFF (não disparado)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1430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91440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43000"/>
            <a:ext cx="11109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52E"/>
                </a:solidFill>
                <a:latin typeface="Calibri"/>
              </a:rPr>
              <a:t>Status dos canais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35607"/>
            <a:ext cx="1110996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28"/>
                </a:solidFill>
                <a:latin typeface="Calibri"/>
              </a:rPr>
              <a:t>SEND_ALERT_ON_LEVEL_CHANGE=false · ALERT_EMAIL_ENABLED=true · ALERT_TELEGRAM_ENABLED=true
Nenhum registro em alertas_enviados (envio nunca disparado nesta base). · Telegram + E-mail (credenciais presentes; SEND_ALERT_ON_LEVEL_CHANGE=false)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286000"/>
            <a:ext cx="11430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91440" cy="6400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377440"/>
            <a:ext cx="11109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52E"/>
                </a:solidFill>
                <a:latin typeface="Calibri"/>
              </a:rPr>
              <a:t>Assunto (e-mail)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70048"/>
            <a:ext cx="11109960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28"/>
                </a:solidFill>
                <a:latin typeface="Calibri"/>
              </a:rPr>
              <a:t>[SIS Clima-Saúde / CIEVS] 🟣 ALERTA ESTADUAL · SES-MT / CIEVS · Roxa — mobilização plena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063240"/>
            <a:ext cx="114300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5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063240"/>
            <a:ext cx="91440" cy="31089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154680"/>
            <a:ext cx="11109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352E"/>
                </a:solidFill>
                <a:latin typeface="Calibri"/>
              </a:rPr>
              <a:t>Corpo (prévia Telegram ≤~4k caracteres)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447288"/>
            <a:ext cx="1110996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28"/>
                </a:solidFill>
                <a:latin typeface="Calibri"/>
              </a:rPr>
              <a:t>🟣 ALERTA ESTADUAL · SES-MT / CIEVS · Roxa — mobilização plena
Escopo: estadual · Alvo: Estado de Mato Grosso · SES/CIEVS · Municípios: 142
Gerado em: 2026-07-28T23:02:06
#Motivo
SIS estágio roxa; UTCI/proxy 33.4; Risco cumulativo 3d 13.2
#Indicadores
- Municípios no escopo: 142
- Distribuição de níveis: laranja:64, amarela:32, vermelha:26, roxa:20
- Nível SIS: roxa
- Nível integrado SIS+TITAN: roxa
- Score operacional: 4
- Score alerta integrado: 4
- Tmáx (°C): 34.4
- UTCI/proxy: 33.4
- Risco acumulado 3d: 13.2
- Ocupação leitos (%): 52.2
- Pressão assistencial (%): 6.1
- Índice saturação solo: 39.4
- Classe solo: baixa
- Incid. arbovírus /100 mil: 8.3
- Z-score arboviroses: 4.3
- Casos SRAG: 0
- Incid. SRAG /100 mil: 0
- Tensão climática: 62.7
- Carga em saúde: 16.9
- Vigilância integrada: 55.1
- Tendência 7d: descendo
- Nível predito 7d: vermelha
- Componente dominante: sis_estagio
- Motivo SIS: UTCI/proxy 33.4 entre 32 e 38; Tmax 34.4 sem gatilho; risco cumulativo 3d 13.15 atingiu vermelha; onda de calor P95 ≥ 2 dias não detectada; saturação do solo 39.40 sem gatilho; pressão a…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C56"/>
                </a:solidFill>
                <a:latin typeface="Calibri"/>
              </a:rPr>
              <a:t>SIS Clima-Saúde MT · CIEVS/SES-MT · dados reais Postgres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B5C56"/>
                </a:solidFill>
                <a:latin typeface="Calibri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Decidir com o painel aberto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7EBE3"/>
                </a:solidFill>
                <a:latin typeface="Calibri"/>
              </a:rPr>
              <a:t>Estadual 🟣 ROXA · Cuiabá 🟣 ROXA
130 pacotes prontos · validar antes de armar SEND_ALERT
http://localhost:8501 · CIEVS-MT / SES-MT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C56"/>
                </a:solidFill>
                <a:latin typeface="Calibri"/>
              </a:rPr>
              <a:t>SIS Clima-Saúde MT · CIEVS/SES-MT · dados reais Postgres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B5C56"/>
                </a:solidFill>
                <a:latin typeface="Calibri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